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3"/>
  </p:notesMasterIdLst>
  <p:sldIdLst>
    <p:sldId id="256" r:id="rId2"/>
    <p:sldId id="257" r:id="rId3"/>
    <p:sldId id="258" r:id="rId4"/>
    <p:sldId id="259" r:id="rId5"/>
    <p:sldId id="260" r:id="rId6"/>
    <p:sldId id="261" r:id="rId7"/>
    <p:sldId id="262" r:id="rId8"/>
    <p:sldId id="263" r:id="rId9"/>
    <p:sldId id="268" r:id="rId10"/>
    <p:sldId id="267" r:id="rId11"/>
    <p:sldId id="266" r:id="rId12"/>
  </p:sldIdLst>
  <p:sldSz cx="12192000" cy="6858000"/>
  <p:notesSz cx="6858000" cy="9144000"/>
  <p:embeddedFontLst>
    <p:embeddedFont>
      <p:font typeface="DM Sans" panose="020B0604020202020204" charset="0"/>
      <p:regular r:id="rId14"/>
      <p:bold r:id="rId15"/>
      <p:italic r:id="rId16"/>
      <p:boldItalic r:id="rId17"/>
    </p:embeddedFont>
    <p:embeddedFont>
      <p:font typeface="Merriweather" panose="020B0604020202020204" charset="0"/>
      <p:regular r:id="rId18"/>
      <p:bold r:id="rId19"/>
      <p:italic r:id="rId20"/>
      <p:boldItalic r:id="rId21"/>
    </p:embeddedFont>
    <p:embeddedFont>
      <p:font typeface="DM Sans Medium" panose="020B0604020202020204" charset="0"/>
      <p:regular r:id="rId22"/>
      <p:bold r:id="rId23"/>
      <p:italic r:id="rId24"/>
      <p:boldItalic r:id="rId25"/>
    </p:embeddedFont>
    <p:embeddedFont>
      <p:font typeface="Calibri" panose="020F0502020204030204" pitchFamily="34" charset="0"/>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7706"/>
    <a:srgbClr val="1E3A8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7" d="100"/>
          <a:sy n="67" d="100"/>
        </p:scale>
        <p:origin x="548" y="4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font" Target="fonts/font13.fntdata"/><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font" Target="fonts/font12.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font" Target="fonts/font1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font" Target="fonts/font15.fntdata"/><Relationship Id="rId10" Type="http://schemas.openxmlformats.org/officeDocument/2006/relationships/slide" Target="slides/slide9.xml"/><Relationship Id="rId19" Type="http://schemas.openxmlformats.org/officeDocument/2006/relationships/font" Target="fonts/font6.fntdata"/><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font" Target="fonts/font14.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1" name="Google Shape;91;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0" name="Google Shape;110;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2" name="Google Shape;15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9" name="Google Shape;16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81" name="Google Shape;181;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1" name="Google Shape;181;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944528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1" name="Google Shape;181;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82154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microsoft.com/office/2007/relationships/hdphoto" Target="../media/hdphoto2.wdp"/><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1.jp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microsoft.com/office/2007/relationships/hdphoto" Target="../media/hdphoto3.wdp"/><Relationship Id="rId5" Type="http://schemas.openxmlformats.org/officeDocument/2006/relationships/image" Target="../media/image20.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microsoft.com/office/2007/relationships/hdphoto" Target="../media/hdphoto4.wdp"/><Relationship Id="rId5" Type="http://schemas.openxmlformats.org/officeDocument/2006/relationships/image" Target="../media/image22.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9FAFB"/>
        </a:solidFill>
        <a:effectLst/>
      </p:bgPr>
    </p:bg>
    <p:spTree>
      <p:nvGrpSpPr>
        <p:cNvPr id="1" name="Shape 83"/>
        <p:cNvGrpSpPr/>
        <p:nvPr/>
      </p:nvGrpSpPr>
      <p:grpSpPr>
        <a:xfrm>
          <a:off x="0" y="0"/>
          <a:ext cx="0" cy="0"/>
          <a:chOff x="0" y="0"/>
          <a:chExt cx="0" cy="0"/>
        </a:xfrm>
      </p:grpSpPr>
      <p:pic>
        <p:nvPicPr>
          <p:cNvPr id="88" name="Google Shape;88;p13" descr="image.png"/>
          <p:cNvPicPr preferRelativeResize="0"/>
          <p:nvPr/>
        </p:nvPicPr>
        <p:blipFill rotWithShape="1">
          <a:blip r:embed="rId3">
            <a:alphaModFix/>
          </a:blip>
          <a:srcRect/>
          <a:stretch/>
        </p:blipFill>
        <p:spPr>
          <a:xfrm>
            <a:off x="2286000" y="2845891"/>
            <a:ext cx="7620000" cy="2857500"/>
          </a:xfrm>
          <a:prstGeom prst="rect">
            <a:avLst/>
          </a:prstGeom>
          <a:noFill/>
          <a:ln>
            <a:noFill/>
          </a:ln>
        </p:spPr>
      </p:pic>
      <p:sp>
        <p:nvSpPr>
          <p:cNvPr id="86" name="Google Shape;86;p13"/>
          <p:cNvSpPr txBox="1"/>
          <p:nvPr/>
        </p:nvSpPr>
        <p:spPr>
          <a:xfrm>
            <a:off x="2095500" y="1154459"/>
            <a:ext cx="8001000" cy="754260"/>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US" sz="5400" b="1" i="0" u="none" strike="noStrike" cap="none">
                <a:solidFill>
                  <a:srgbClr val="1E3A8A"/>
                </a:solidFill>
                <a:latin typeface="Merriweather"/>
                <a:ea typeface="Merriweather"/>
                <a:cs typeface="Merriweather"/>
                <a:sym typeface="Merriweather"/>
              </a:rPr>
              <a:t>Loan Portfolio Review</a:t>
            </a:r>
            <a:endParaRPr/>
          </a:p>
        </p:txBody>
      </p:sp>
      <p:sp>
        <p:nvSpPr>
          <p:cNvPr id="87" name="Google Shape;87;p13"/>
          <p:cNvSpPr txBox="1"/>
          <p:nvPr/>
        </p:nvSpPr>
        <p:spPr>
          <a:xfrm>
            <a:off x="2286000" y="2099220"/>
            <a:ext cx="7620000" cy="365670"/>
          </a:xfrm>
          <a:prstGeom prst="rect">
            <a:avLst/>
          </a:prstGeom>
          <a:noFill/>
          <a:ln>
            <a:noFill/>
          </a:ln>
        </p:spPr>
        <p:txBody>
          <a:bodyPr spcFirstLastPara="1" wrap="square" lIns="0" tIns="0" rIns="0" bIns="0" anchor="t" anchorCtr="0">
            <a:spAutoFit/>
          </a:bodyPr>
          <a:lstStyle/>
          <a:p>
            <a:pPr marL="0" marR="0" lvl="0" indent="0" algn="ctr" rtl="0">
              <a:lnSpc>
                <a:spcPct val="159944"/>
              </a:lnSpc>
              <a:spcBef>
                <a:spcPts val="0"/>
              </a:spcBef>
              <a:spcAft>
                <a:spcPts val="0"/>
              </a:spcAft>
              <a:buNone/>
            </a:pPr>
            <a:r>
              <a:rPr lang="en-US" sz="1800" b="0" i="0" u="none" strike="noStrike" cap="none" dirty="0" smtClean="0">
                <a:solidFill>
                  <a:srgbClr val="6B7280"/>
                </a:solidFill>
                <a:latin typeface="DM Sans"/>
                <a:ea typeface="DM Sans"/>
                <a:cs typeface="DM Sans"/>
                <a:sym typeface="DM Sans"/>
              </a:rPr>
              <a:t>A Detailed Performance &amp; Risk Analysis (2007–2011)</a:t>
            </a:r>
            <a:endParaRPr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9FAFB"/>
        </a:solidFill>
        <a:effectLst/>
      </p:bgPr>
    </p:bg>
    <p:spTree>
      <p:nvGrpSpPr>
        <p:cNvPr id="1" name="Shape 92"/>
        <p:cNvGrpSpPr/>
        <p:nvPr/>
      </p:nvGrpSpPr>
      <p:grpSpPr>
        <a:xfrm>
          <a:off x="0" y="0"/>
          <a:ext cx="0" cy="0"/>
          <a:chOff x="0" y="0"/>
          <a:chExt cx="0" cy="0"/>
        </a:xfrm>
      </p:grpSpPr>
      <p:pic>
        <p:nvPicPr>
          <p:cNvPr id="93" name="Google Shape;93;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94" name="Google Shape;94;p14" descr="image.png"/>
          <p:cNvPicPr preferRelativeResize="0"/>
          <p:nvPr/>
        </p:nvPicPr>
        <p:blipFill rotWithShape="1">
          <a:blip r:embed="rId4">
            <a:alphaModFix/>
          </a:blip>
          <a:srcRect/>
          <a:stretch/>
        </p:blipFill>
        <p:spPr>
          <a:xfrm>
            <a:off x="571500" y="2413694"/>
            <a:ext cx="3492549" cy="2954535"/>
          </a:xfrm>
          <a:prstGeom prst="rect">
            <a:avLst/>
          </a:prstGeom>
          <a:noFill/>
          <a:ln>
            <a:noFill/>
          </a:ln>
        </p:spPr>
      </p:pic>
      <p:pic>
        <p:nvPicPr>
          <p:cNvPr id="95" name="Google Shape;95;p14" descr="image.png"/>
          <p:cNvPicPr preferRelativeResize="0"/>
          <p:nvPr/>
        </p:nvPicPr>
        <p:blipFill rotWithShape="1">
          <a:blip r:embed="rId5">
            <a:alphaModFix/>
          </a:blip>
          <a:srcRect/>
          <a:stretch/>
        </p:blipFill>
        <p:spPr>
          <a:xfrm>
            <a:off x="4349799" y="2413694"/>
            <a:ext cx="3492549" cy="2954535"/>
          </a:xfrm>
          <a:prstGeom prst="rect">
            <a:avLst/>
          </a:prstGeom>
          <a:noFill/>
          <a:ln>
            <a:noFill/>
          </a:ln>
        </p:spPr>
      </p:pic>
      <p:pic>
        <p:nvPicPr>
          <p:cNvPr id="96" name="Google Shape;96;p14" descr="image.png"/>
          <p:cNvPicPr preferRelativeResize="0"/>
          <p:nvPr/>
        </p:nvPicPr>
        <p:blipFill rotWithShape="1">
          <a:blip r:embed="rId6">
            <a:alphaModFix/>
          </a:blip>
          <a:srcRect/>
          <a:stretch/>
        </p:blipFill>
        <p:spPr>
          <a:xfrm>
            <a:off x="8128099" y="2413694"/>
            <a:ext cx="3492549" cy="2954535"/>
          </a:xfrm>
          <a:prstGeom prst="rect">
            <a:avLst/>
          </a:prstGeom>
          <a:noFill/>
          <a:ln>
            <a:noFill/>
          </a:ln>
        </p:spPr>
      </p:pic>
      <p:sp>
        <p:nvSpPr>
          <p:cNvPr id="97" name="Google Shape;97;p14"/>
          <p:cNvSpPr txBox="1"/>
          <p:nvPr/>
        </p:nvSpPr>
        <p:spPr>
          <a:xfrm>
            <a:off x="866775" y="3394769"/>
            <a:ext cx="3047099" cy="2952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1E3A8A"/>
                </a:solidFill>
                <a:latin typeface="Merriweather"/>
                <a:ea typeface="Merriweather"/>
                <a:cs typeface="Merriweather"/>
                <a:sym typeface="Merriweather"/>
              </a:rPr>
              <a:t>Strategic Intent</a:t>
            </a:r>
            <a:endParaRPr/>
          </a:p>
        </p:txBody>
      </p:sp>
      <p:sp>
        <p:nvSpPr>
          <p:cNvPr id="98" name="Google Shape;98;p14"/>
          <p:cNvSpPr txBox="1"/>
          <p:nvPr/>
        </p:nvSpPr>
        <p:spPr>
          <a:xfrm>
            <a:off x="866775" y="3832919"/>
            <a:ext cx="2901999" cy="10971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74151"/>
                </a:solidFill>
                <a:latin typeface="DM Sans"/>
                <a:ea typeface="DM Sans"/>
                <a:cs typeface="DM Sans"/>
                <a:sym typeface="DM Sans"/>
              </a:rPr>
              <a:t>Designed to transform 39.7K raw application records into actionable intelligence for risk mitigation and capital growth.</a:t>
            </a:r>
            <a:endParaRPr/>
          </a:p>
        </p:txBody>
      </p:sp>
      <p:sp>
        <p:nvSpPr>
          <p:cNvPr id="99" name="Google Shape;99;p14"/>
          <p:cNvSpPr txBox="1"/>
          <p:nvPr/>
        </p:nvSpPr>
        <p:spPr>
          <a:xfrm>
            <a:off x="4645074" y="3394769"/>
            <a:ext cx="3047099" cy="2952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1E3A8A"/>
                </a:solidFill>
                <a:latin typeface="Merriweather"/>
                <a:ea typeface="Merriweather"/>
                <a:cs typeface="Merriweather"/>
                <a:sym typeface="Merriweather"/>
              </a:rPr>
              <a:t>Data Scope</a:t>
            </a:r>
            <a:endParaRPr/>
          </a:p>
        </p:txBody>
      </p:sp>
      <p:sp>
        <p:nvSpPr>
          <p:cNvPr id="100" name="Google Shape;100;p14"/>
          <p:cNvSpPr txBox="1"/>
          <p:nvPr/>
        </p:nvSpPr>
        <p:spPr>
          <a:xfrm>
            <a:off x="4645074" y="3832919"/>
            <a:ext cx="2901999" cy="10971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74151"/>
                </a:solidFill>
                <a:latin typeface="DM Sans"/>
                <a:ea typeface="DM Sans"/>
                <a:cs typeface="DM Sans"/>
                <a:sym typeface="DM Sans"/>
              </a:rPr>
              <a:t>Comprehensive analysis across 5 years of historical data, auditing ₹434.8M in funding and identifying regional hubs.</a:t>
            </a:r>
            <a:endParaRPr/>
          </a:p>
        </p:txBody>
      </p:sp>
      <p:sp>
        <p:nvSpPr>
          <p:cNvPr id="101" name="Google Shape;101;p14"/>
          <p:cNvSpPr txBox="1"/>
          <p:nvPr/>
        </p:nvSpPr>
        <p:spPr>
          <a:xfrm>
            <a:off x="8423374" y="3394769"/>
            <a:ext cx="3047099" cy="2952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1E3A8A"/>
                </a:solidFill>
                <a:latin typeface="Merriweather"/>
                <a:ea typeface="Merriweather"/>
                <a:cs typeface="Merriweather"/>
                <a:sym typeface="Merriweather"/>
              </a:rPr>
              <a:t>Key Outcome</a:t>
            </a:r>
            <a:endParaRPr/>
          </a:p>
        </p:txBody>
      </p:sp>
      <p:sp>
        <p:nvSpPr>
          <p:cNvPr id="102" name="Google Shape;102;p14"/>
          <p:cNvSpPr txBox="1"/>
          <p:nvPr/>
        </p:nvSpPr>
        <p:spPr>
          <a:xfrm>
            <a:off x="8423374" y="3832919"/>
            <a:ext cx="2901999" cy="10971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74151"/>
                </a:solidFill>
                <a:latin typeface="DM Sans"/>
                <a:ea typeface="DM Sans"/>
                <a:cs typeface="DM Sans"/>
                <a:sym typeface="DM Sans"/>
              </a:rPr>
              <a:t>Identified a ₹48M revenue surplus and established a tiered risk model for future credit allocation strategies.</a:t>
            </a:r>
            <a:endParaRPr/>
          </a:p>
        </p:txBody>
      </p:sp>
      <p:pic>
        <p:nvPicPr>
          <p:cNvPr id="103" name="Google Shape;103;p14" descr="image.png"/>
          <p:cNvPicPr preferRelativeResize="0"/>
          <p:nvPr/>
        </p:nvPicPr>
        <p:blipFill rotWithShape="1">
          <a:blip r:embed="rId7">
            <a:alphaModFix/>
          </a:blip>
          <a:srcRect/>
          <a:stretch/>
        </p:blipFill>
        <p:spPr>
          <a:xfrm>
            <a:off x="866775" y="2756594"/>
            <a:ext cx="381000" cy="381000"/>
          </a:xfrm>
          <a:prstGeom prst="rect">
            <a:avLst/>
          </a:prstGeom>
          <a:noFill/>
          <a:ln>
            <a:noFill/>
          </a:ln>
        </p:spPr>
      </p:pic>
      <p:pic>
        <p:nvPicPr>
          <p:cNvPr id="104" name="Google Shape;104;p14" descr="image.png"/>
          <p:cNvPicPr preferRelativeResize="0"/>
          <p:nvPr/>
        </p:nvPicPr>
        <p:blipFill rotWithShape="1">
          <a:blip r:embed="rId8">
            <a:alphaModFix/>
          </a:blip>
          <a:srcRect/>
          <a:stretch/>
        </p:blipFill>
        <p:spPr>
          <a:xfrm>
            <a:off x="4645074" y="2756594"/>
            <a:ext cx="428625" cy="381000"/>
          </a:xfrm>
          <a:prstGeom prst="rect">
            <a:avLst/>
          </a:prstGeom>
          <a:noFill/>
          <a:ln>
            <a:noFill/>
          </a:ln>
        </p:spPr>
      </p:pic>
      <p:pic>
        <p:nvPicPr>
          <p:cNvPr id="105" name="Google Shape;105;p14" descr="image.png"/>
          <p:cNvPicPr preferRelativeResize="0"/>
          <p:nvPr/>
        </p:nvPicPr>
        <p:blipFill rotWithShape="1">
          <a:blip r:embed="rId9">
            <a:alphaModFix/>
          </a:blip>
          <a:srcRect/>
          <a:stretch/>
        </p:blipFill>
        <p:spPr>
          <a:xfrm>
            <a:off x="8423374" y="2756594"/>
            <a:ext cx="428625" cy="381000"/>
          </a:xfrm>
          <a:prstGeom prst="rect">
            <a:avLst/>
          </a:prstGeom>
          <a:noFill/>
          <a:ln>
            <a:noFill/>
          </a:ln>
        </p:spPr>
      </p:pic>
      <p:sp>
        <p:nvSpPr>
          <p:cNvPr id="106" name="Google Shape;106;p14"/>
          <p:cNvSpPr txBox="1"/>
          <p:nvPr/>
        </p:nvSpPr>
        <p:spPr>
          <a:xfrm>
            <a:off x="571500" y="571500"/>
            <a:ext cx="11601450" cy="4154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dirty="0" smtClean="0">
                <a:solidFill>
                  <a:srgbClr val="1E3A8A"/>
                </a:solidFill>
                <a:latin typeface="Merriweather"/>
                <a:ea typeface="Merriweather"/>
                <a:cs typeface="Merriweather"/>
                <a:sym typeface="Merriweather"/>
              </a:rPr>
              <a:t>What is this Project About?</a:t>
            </a:r>
            <a:endParaRPr dirty="0"/>
          </a:p>
        </p:txBody>
      </p:sp>
      <p:sp>
        <p:nvSpPr>
          <p:cNvPr id="107" name="Google Shape;107;p14"/>
          <p:cNvSpPr/>
          <p:nvPr/>
        </p:nvSpPr>
        <p:spPr>
          <a:xfrm>
            <a:off x="571500" y="1095375"/>
            <a:ext cx="11049000" cy="19050"/>
          </a:xfrm>
          <a:prstGeom prst="rect">
            <a:avLst/>
          </a:prstGeom>
          <a:solidFill>
            <a:srgbClr val="D1D5D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9FAFB"/>
        </a:solidFill>
        <a:effectLst/>
      </p:bgPr>
    </p:bg>
    <p:spTree>
      <p:nvGrpSpPr>
        <p:cNvPr id="1" name="Shape 111"/>
        <p:cNvGrpSpPr/>
        <p:nvPr/>
      </p:nvGrpSpPr>
      <p:grpSpPr>
        <a:xfrm>
          <a:off x="0" y="0"/>
          <a:ext cx="0" cy="0"/>
          <a:chOff x="0" y="0"/>
          <a:chExt cx="0" cy="0"/>
        </a:xfrm>
      </p:grpSpPr>
      <p:pic>
        <p:nvPicPr>
          <p:cNvPr id="113" name="Google Shape;113;p15" descr="image.png"/>
          <p:cNvPicPr preferRelativeResize="0"/>
          <p:nvPr/>
        </p:nvPicPr>
        <p:blipFill rotWithShape="1">
          <a:blip r:embed="rId3">
            <a:alphaModFix/>
          </a:blip>
          <a:srcRect/>
          <a:stretch/>
        </p:blipFill>
        <p:spPr>
          <a:xfrm>
            <a:off x="571500" y="3315656"/>
            <a:ext cx="2095500" cy="1133475"/>
          </a:xfrm>
          <a:prstGeom prst="rect">
            <a:avLst/>
          </a:prstGeom>
          <a:noFill/>
          <a:ln>
            <a:noFill/>
          </a:ln>
        </p:spPr>
      </p:pic>
      <p:pic>
        <p:nvPicPr>
          <p:cNvPr id="114" name="Google Shape;114;p15" descr="image.png"/>
          <p:cNvPicPr preferRelativeResize="0"/>
          <p:nvPr/>
        </p:nvPicPr>
        <p:blipFill rotWithShape="1">
          <a:blip r:embed="rId4">
            <a:alphaModFix/>
          </a:blip>
          <a:srcRect/>
          <a:stretch/>
        </p:blipFill>
        <p:spPr>
          <a:xfrm>
            <a:off x="2809875" y="3315656"/>
            <a:ext cx="2095500" cy="1133475"/>
          </a:xfrm>
          <a:prstGeom prst="rect">
            <a:avLst/>
          </a:prstGeom>
          <a:noFill/>
          <a:ln>
            <a:noFill/>
          </a:ln>
        </p:spPr>
      </p:pic>
      <p:pic>
        <p:nvPicPr>
          <p:cNvPr id="115" name="Google Shape;115;p15" descr="image.png"/>
          <p:cNvPicPr preferRelativeResize="0"/>
          <p:nvPr/>
        </p:nvPicPr>
        <p:blipFill rotWithShape="1">
          <a:blip r:embed="rId5">
            <a:alphaModFix/>
          </a:blip>
          <a:srcRect/>
          <a:stretch/>
        </p:blipFill>
        <p:spPr>
          <a:xfrm>
            <a:off x="5048250" y="3315656"/>
            <a:ext cx="2095500" cy="1133475"/>
          </a:xfrm>
          <a:prstGeom prst="rect">
            <a:avLst/>
          </a:prstGeom>
          <a:noFill/>
          <a:ln>
            <a:noFill/>
          </a:ln>
        </p:spPr>
      </p:pic>
      <p:pic>
        <p:nvPicPr>
          <p:cNvPr id="116" name="Google Shape;116;p15" descr="image.png"/>
          <p:cNvPicPr preferRelativeResize="0"/>
          <p:nvPr/>
        </p:nvPicPr>
        <p:blipFill rotWithShape="1">
          <a:blip r:embed="rId5">
            <a:alphaModFix/>
          </a:blip>
          <a:srcRect/>
          <a:stretch/>
        </p:blipFill>
        <p:spPr>
          <a:xfrm>
            <a:off x="7286625" y="3315656"/>
            <a:ext cx="2095500" cy="1133475"/>
          </a:xfrm>
          <a:prstGeom prst="rect">
            <a:avLst/>
          </a:prstGeom>
          <a:noFill/>
          <a:ln>
            <a:noFill/>
          </a:ln>
        </p:spPr>
      </p:pic>
      <p:pic>
        <p:nvPicPr>
          <p:cNvPr id="117" name="Google Shape;117;p15" descr="image.png"/>
          <p:cNvPicPr preferRelativeResize="0"/>
          <p:nvPr/>
        </p:nvPicPr>
        <p:blipFill rotWithShape="1">
          <a:blip r:embed="rId3">
            <a:alphaModFix/>
          </a:blip>
          <a:srcRect/>
          <a:stretch/>
        </p:blipFill>
        <p:spPr>
          <a:xfrm>
            <a:off x="9525000" y="3315656"/>
            <a:ext cx="2095500" cy="1133475"/>
          </a:xfrm>
          <a:prstGeom prst="rect">
            <a:avLst/>
          </a:prstGeom>
          <a:noFill/>
          <a:ln>
            <a:noFill/>
          </a:ln>
        </p:spPr>
      </p:pic>
      <p:sp>
        <p:nvSpPr>
          <p:cNvPr id="118" name="Google Shape;118;p15"/>
          <p:cNvSpPr txBox="1"/>
          <p:nvPr/>
        </p:nvSpPr>
        <p:spPr>
          <a:xfrm>
            <a:off x="571500" y="1882642"/>
            <a:ext cx="11049000" cy="664797"/>
          </a:xfrm>
          <a:prstGeom prst="rect">
            <a:avLst/>
          </a:prstGeom>
          <a:noFill/>
          <a:ln>
            <a:noFill/>
          </a:ln>
        </p:spPr>
        <p:txBody>
          <a:bodyPr spcFirstLastPara="1" wrap="square" lIns="0" tIns="0" rIns="0" bIns="0" anchor="t" anchorCtr="0">
            <a:spAutoFit/>
          </a:bodyPr>
          <a:lstStyle/>
          <a:p>
            <a:pPr lvl="0" algn="ctr">
              <a:lnSpc>
                <a:spcPct val="160000"/>
              </a:lnSpc>
            </a:pPr>
            <a:r>
              <a:rPr lang="en-US" sz="1350" dirty="0">
                <a:solidFill>
                  <a:srgbClr val="111827"/>
                </a:solidFill>
                <a:latin typeface="DM Sans Medium"/>
                <a:ea typeface="DM Sans Medium"/>
                <a:cs typeface="DM Sans Medium"/>
                <a:sym typeface="DM Sans Medium"/>
              </a:rPr>
              <a:t>These metrics provide the heartbeat of our lending business. They tell us exactly how much we gave, how much we earned, and how much risk we took.</a:t>
            </a:r>
          </a:p>
        </p:txBody>
      </p:sp>
      <p:sp>
        <p:nvSpPr>
          <p:cNvPr id="119" name="Google Shape;119;p15"/>
          <p:cNvSpPr txBox="1"/>
          <p:nvPr/>
        </p:nvSpPr>
        <p:spPr>
          <a:xfrm>
            <a:off x="714375" y="3591881"/>
            <a:ext cx="1809750" cy="369332"/>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1" dirty="0" smtClean="0">
                <a:solidFill>
                  <a:srgbClr val="111827"/>
                </a:solidFill>
                <a:latin typeface="DM Sans"/>
                <a:ea typeface="DM Sans"/>
                <a:cs typeface="DM Sans"/>
                <a:sym typeface="DM Sans"/>
              </a:rPr>
              <a:t>$ </a:t>
            </a:r>
            <a:r>
              <a:rPr lang="en-US" sz="2400" b="1" i="0" u="none" strike="noStrike" cap="none" dirty="0" smtClean="0">
                <a:solidFill>
                  <a:srgbClr val="111827"/>
                </a:solidFill>
                <a:latin typeface="DM Sans"/>
                <a:ea typeface="DM Sans"/>
                <a:cs typeface="DM Sans"/>
                <a:sym typeface="DM Sans"/>
              </a:rPr>
              <a:t>434.8M</a:t>
            </a:r>
            <a:endParaRPr dirty="0"/>
          </a:p>
        </p:txBody>
      </p:sp>
      <p:sp>
        <p:nvSpPr>
          <p:cNvPr id="120" name="Google Shape;120;p15"/>
          <p:cNvSpPr txBox="1"/>
          <p:nvPr/>
        </p:nvSpPr>
        <p:spPr>
          <a:xfrm>
            <a:off x="714375" y="4039556"/>
            <a:ext cx="1809750" cy="1714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50" b="1" i="0" u="none" strike="noStrike" cap="none">
                <a:solidFill>
                  <a:srgbClr val="6B7280"/>
                </a:solidFill>
                <a:latin typeface="DM Sans"/>
                <a:ea typeface="DM Sans"/>
                <a:cs typeface="DM Sans"/>
                <a:sym typeface="DM Sans"/>
              </a:rPr>
              <a:t>TOTAL FUNDED</a:t>
            </a:r>
            <a:endParaRPr/>
          </a:p>
        </p:txBody>
      </p:sp>
      <p:sp>
        <p:nvSpPr>
          <p:cNvPr id="121" name="Google Shape;121;p15"/>
          <p:cNvSpPr txBox="1"/>
          <p:nvPr/>
        </p:nvSpPr>
        <p:spPr>
          <a:xfrm>
            <a:off x="2952750" y="3591881"/>
            <a:ext cx="1809750" cy="369332"/>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1" i="0" u="none" strike="noStrike" cap="none" dirty="0" smtClean="0">
                <a:solidFill>
                  <a:srgbClr val="111827"/>
                </a:solidFill>
                <a:latin typeface="DM Sans"/>
                <a:ea typeface="DM Sans"/>
                <a:cs typeface="DM Sans"/>
                <a:sym typeface="DM Sans"/>
              </a:rPr>
              <a:t>$ 482.7M</a:t>
            </a:r>
            <a:endParaRPr dirty="0"/>
          </a:p>
        </p:txBody>
      </p:sp>
      <p:sp>
        <p:nvSpPr>
          <p:cNvPr id="122" name="Google Shape;122;p15"/>
          <p:cNvSpPr txBox="1"/>
          <p:nvPr/>
        </p:nvSpPr>
        <p:spPr>
          <a:xfrm>
            <a:off x="2952750" y="4039556"/>
            <a:ext cx="1809750" cy="1714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50" b="1" i="0" u="none" strike="noStrike" cap="none">
                <a:solidFill>
                  <a:srgbClr val="6B7280"/>
                </a:solidFill>
                <a:latin typeface="DM Sans"/>
                <a:ea typeface="DM Sans"/>
                <a:cs typeface="DM Sans"/>
                <a:sym typeface="DM Sans"/>
              </a:rPr>
              <a:t>TOTAL RECEIVED</a:t>
            </a:r>
            <a:endParaRPr/>
          </a:p>
        </p:txBody>
      </p:sp>
      <p:sp>
        <p:nvSpPr>
          <p:cNvPr id="123" name="Google Shape;123;p15"/>
          <p:cNvSpPr txBox="1"/>
          <p:nvPr/>
        </p:nvSpPr>
        <p:spPr>
          <a:xfrm>
            <a:off x="5191125" y="3591881"/>
            <a:ext cx="1809750" cy="4000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1" i="0" u="none" strike="noStrike" cap="none">
                <a:solidFill>
                  <a:srgbClr val="111827"/>
                </a:solidFill>
                <a:latin typeface="DM Sans"/>
                <a:ea typeface="DM Sans"/>
                <a:cs typeface="DM Sans"/>
                <a:sym typeface="DM Sans"/>
              </a:rPr>
              <a:t>12.02%</a:t>
            </a:r>
            <a:endParaRPr/>
          </a:p>
        </p:txBody>
      </p:sp>
      <p:sp>
        <p:nvSpPr>
          <p:cNvPr id="124" name="Google Shape;124;p15"/>
          <p:cNvSpPr txBox="1"/>
          <p:nvPr/>
        </p:nvSpPr>
        <p:spPr>
          <a:xfrm>
            <a:off x="5191125" y="4039556"/>
            <a:ext cx="1809750" cy="1714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50" b="1" i="0" u="none" strike="noStrike" cap="none">
                <a:solidFill>
                  <a:srgbClr val="6B7280"/>
                </a:solidFill>
                <a:latin typeface="DM Sans"/>
                <a:ea typeface="DM Sans"/>
                <a:cs typeface="DM Sans"/>
                <a:sym typeface="DM Sans"/>
              </a:rPr>
              <a:t>AVG INT RATE</a:t>
            </a:r>
            <a:endParaRPr/>
          </a:p>
        </p:txBody>
      </p:sp>
      <p:sp>
        <p:nvSpPr>
          <p:cNvPr id="125" name="Google Shape;125;p15"/>
          <p:cNvSpPr txBox="1"/>
          <p:nvPr/>
        </p:nvSpPr>
        <p:spPr>
          <a:xfrm>
            <a:off x="7429500" y="3591881"/>
            <a:ext cx="1809750" cy="4000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1" i="0" u="none" strike="noStrike" cap="none">
                <a:solidFill>
                  <a:srgbClr val="111827"/>
                </a:solidFill>
                <a:latin typeface="DM Sans"/>
                <a:ea typeface="DM Sans"/>
                <a:cs typeface="DM Sans"/>
                <a:sym typeface="DM Sans"/>
              </a:rPr>
              <a:t>1331%</a:t>
            </a:r>
            <a:endParaRPr/>
          </a:p>
        </p:txBody>
      </p:sp>
      <p:sp>
        <p:nvSpPr>
          <p:cNvPr id="126" name="Google Shape;126;p15"/>
          <p:cNvSpPr txBox="1"/>
          <p:nvPr/>
        </p:nvSpPr>
        <p:spPr>
          <a:xfrm>
            <a:off x="7429500" y="4039556"/>
            <a:ext cx="1809750" cy="1714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50" b="1" i="0" u="none" strike="noStrike" cap="none">
                <a:solidFill>
                  <a:srgbClr val="6B7280"/>
                </a:solidFill>
                <a:latin typeface="DM Sans"/>
                <a:ea typeface="DM Sans"/>
                <a:cs typeface="DM Sans"/>
                <a:sym typeface="DM Sans"/>
              </a:rPr>
              <a:t>AVG DTI</a:t>
            </a:r>
            <a:endParaRPr/>
          </a:p>
        </p:txBody>
      </p:sp>
      <p:sp>
        <p:nvSpPr>
          <p:cNvPr id="127" name="Google Shape;127;p15"/>
          <p:cNvSpPr txBox="1"/>
          <p:nvPr/>
        </p:nvSpPr>
        <p:spPr>
          <a:xfrm>
            <a:off x="9667875" y="3591881"/>
            <a:ext cx="1809750" cy="369332"/>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1" dirty="0" smtClean="0">
                <a:solidFill>
                  <a:srgbClr val="111827"/>
                </a:solidFill>
                <a:latin typeface="DM Sans"/>
                <a:ea typeface="DM Sans"/>
                <a:cs typeface="DM Sans"/>
                <a:sym typeface="DM Sans"/>
              </a:rPr>
              <a:t>$ </a:t>
            </a:r>
            <a:r>
              <a:rPr lang="en-US" sz="2400" b="1" i="0" u="none" strike="noStrike" cap="none" dirty="0" smtClean="0">
                <a:solidFill>
                  <a:srgbClr val="111827"/>
                </a:solidFill>
                <a:latin typeface="DM Sans"/>
                <a:ea typeface="DM Sans"/>
                <a:cs typeface="DM Sans"/>
                <a:sym typeface="DM Sans"/>
              </a:rPr>
              <a:t>3.8M</a:t>
            </a:r>
            <a:endParaRPr dirty="0"/>
          </a:p>
        </p:txBody>
      </p:sp>
      <p:sp>
        <p:nvSpPr>
          <p:cNvPr id="128" name="Google Shape;128;p15"/>
          <p:cNvSpPr txBox="1"/>
          <p:nvPr/>
        </p:nvSpPr>
        <p:spPr>
          <a:xfrm>
            <a:off x="9667875" y="4039556"/>
            <a:ext cx="1809750" cy="1714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50" b="1" i="0" u="none" strike="noStrike" cap="none">
                <a:solidFill>
                  <a:srgbClr val="6B7280"/>
                </a:solidFill>
                <a:latin typeface="DM Sans"/>
                <a:ea typeface="DM Sans"/>
                <a:cs typeface="DM Sans"/>
                <a:sym typeface="DM Sans"/>
              </a:rPr>
              <a:t>RECOVERIES</a:t>
            </a:r>
            <a:endParaRPr/>
          </a:p>
        </p:txBody>
      </p:sp>
      <p:sp>
        <p:nvSpPr>
          <p:cNvPr id="129" name="Google Shape;129;p15"/>
          <p:cNvSpPr txBox="1"/>
          <p:nvPr/>
        </p:nvSpPr>
        <p:spPr>
          <a:xfrm>
            <a:off x="571500" y="571500"/>
            <a:ext cx="11601450" cy="4476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1E3A8A"/>
                </a:solidFill>
                <a:latin typeface="Merriweather"/>
                <a:ea typeface="Merriweather"/>
                <a:cs typeface="Merriweather"/>
                <a:sym typeface="Merriweather"/>
              </a:rPr>
              <a:t>Core Performance Indicators</a:t>
            </a:r>
            <a:endParaRPr/>
          </a:p>
        </p:txBody>
      </p:sp>
      <p:sp>
        <p:nvSpPr>
          <p:cNvPr id="130" name="Google Shape;130;p15"/>
          <p:cNvSpPr/>
          <p:nvPr/>
        </p:nvSpPr>
        <p:spPr>
          <a:xfrm>
            <a:off x="571500" y="1095375"/>
            <a:ext cx="11049000" cy="19050"/>
          </a:xfrm>
          <a:prstGeom prst="rect">
            <a:avLst/>
          </a:prstGeom>
          <a:solidFill>
            <a:srgbClr val="D1D5D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9FAFB"/>
        </a:solidFill>
        <a:effectLst/>
      </p:bgPr>
    </p:bg>
    <p:spTree>
      <p:nvGrpSpPr>
        <p:cNvPr id="1" name="Shape 134"/>
        <p:cNvGrpSpPr/>
        <p:nvPr/>
      </p:nvGrpSpPr>
      <p:grpSpPr>
        <a:xfrm>
          <a:off x="0" y="0"/>
          <a:ext cx="0" cy="0"/>
          <a:chOff x="0" y="0"/>
          <a:chExt cx="0" cy="0"/>
        </a:xfrm>
      </p:grpSpPr>
      <p:pic>
        <p:nvPicPr>
          <p:cNvPr id="135" name="Google Shape;135;p16"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36" name="Google Shape;136;p16" descr="image.png"/>
          <p:cNvPicPr preferRelativeResize="0"/>
          <p:nvPr/>
        </p:nvPicPr>
        <p:blipFill rotWithShape="1">
          <a:blip r:embed="rId4">
            <a:alphaModFix/>
            <a:extLst>
              <a:ext uri="{BEBA8EAE-BF5A-486C-A8C5-ECC9F3942E4B}">
                <a14:imgProps xmlns:a14="http://schemas.microsoft.com/office/drawing/2010/main">
                  <a14:imgLayer r:embed="rId5">
                    <a14:imgEffect>
                      <a14:backgroundRemoval t="2584" b="89861" l="2328" r="98276">
                        <a14:foregroundMark x1="68707" y1="38171" x2="68707" y2="38171"/>
                        <a14:foregroundMark x1="90776" y1="31412" x2="90776" y2="31412"/>
                        <a14:foregroundMark x1="52155" y1="53678" x2="52155" y2="53678"/>
                        <a14:foregroundMark x1="32241" y1="58648" x2="32241" y2="58648"/>
                        <a14:foregroundMark x1="11207" y1="62823" x2="11207" y2="62823"/>
                      </a14:backgroundRemoval>
                    </a14:imgEffect>
                  </a14:imgLayer>
                </a14:imgProps>
              </a:ext>
            </a:extLst>
          </a:blip>
          <a:srcRect/>
          <a:stretch/>
        </p:blipFill>
        <p:spPr>
          <a:xfrm>
            <a:off x="571500" y="1495425"/>
            <a:ext cx="11049000" cy="4791075"/>
          </a:xfrm>
          <a:prstGeom prst="rect">
            <a:avLst/>
          </a:prstGeom>
          <a:noFill/>
          <a:ln>
            <a:noFill/>
          </a:ln>
        </p:spPr>
      </p:pic>
      <p:sp>
        <p:nvSpPr>
          <p:cNvPr id="137" name="Google Shape;137;p16"/>
          <p:cNvSpPr txBox="1"/>
          <p:nvPr/>
        </p:nvSpPr>
        <p:spPr>
          <a:xfrm>
            <a:off x="571500" y="5492055"/>
            <a:ext cx="11049000" cy="664797"/>
          </a:xfrm>
          <a:prstGeom prst="rect">
            <a:avLst/>
          </a:prstGeom>
          <a:noFill/>
          <a:ln>
            <a:noFill/>
          </a:ln>
        </p:spPr>
        <p:txBody>
          <a:bodyPr spcFirstLastPara="1" wrap="square" lIns="0" tIns="0" rIns="0" bIns="0" anchor="t" anchorCtr="0">
            <a:spAutoFit/>
          </a:bodyPr>
          <a:lstStyle/>
          <a:p>
            <a:pPr lvl="0">
              <a:lnSpc>
                <a:spcPct val="160000"/>
              </a:lnSpc>
            </a:pPr>
            <a:r>
              <a:rPr lang="en-US" sz="1350" b="1" i="0" u="none" strike="noStrike" cap="none" dirty="0" smtClean="0">
                <a:solidFill>
                  <a:srgbClr val="374151"/>
                </a:solidFill>
                <a:latin typeface="DM Sans"/>
                <a:ea typeface="DM Sans"/>
                <a:cs typeface="DM Sans"/>
                <a:sym typeface="DM Sans"/>
              </a:rPr>
              <a:t>Key Insight:</a:t>
            </a:r>
            <a:r>
              <a:rPr lang="en-US" sz="1350" dirty="0">
                <a:solidFill>
                  <a:srgbClr val="374151"/>
                </a:solidFill>
                <a:latin typeface="DM Sans"/>
                <a:ea typeface="DM Sans"/>
                <a:cs typeface="DM Sans"/>
                <a:sym typeface="DM Sans"/>
              </a:rPr>
              <a:t> Our loan volume exploded over five years. We went from ₹2.2M in 2007 to over ₹260M in 2011. This proves that market trust and demand for our loans are rising rapidly.</a:t>
            </a:r>
          </a:p>
        </p:txBody>
      </p:sp>
      <p:sp>
        <p:nvSpPr>
          <p:cNvPr id="138" name="Google Shape;138;p16"/>
          <p:cNvSpPr txBox="1"/>
          <p:nvPr/>
        </p:nvSpPr>
        <p:spPr>
          <a:xfrm>
            <a:off x="571500" y="571500"/>
            <a:ext cx="11601450" cy="4476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1E3A8A"/>
                </a:solidFill>
                <a:latin typeface="Merriweather"/>
                <a:ea typeface="Merriweather"/>
                <a:cs typeface="Merriweather"/>
                <a:sym typeface="Merriweather"/>
              </a:rPr>
              <a:t>Growth Acceleration (2007-2011)</a:t>
            </a:r>
            <a:endParaRPr/>
          </a:p>
        </p:txBody>
      </p:sp>
      <p:sp>
        <p:nvSpPr>
          <p:cNvPr id="139" name="Google Shape;139;p16"/>
          <p:cNvSpPr/>
          <p:nvPr/>
        </p:nvSpPr>
        <p:spPr>
          <a:xfrm>
            <a:off x="571500" y="1095375"/>
            <a:ext cx="11049000" cy="19050"/>
          </a:xfrm>
          <a:prstGeom prst="rect">
            <a:avLst/>
          </a:prstGeom>
          <a:solidFill>
            <a:srgbClr val="D1D5D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 name="Rectangle 2"/>
          <p:cNvSpPr/>
          <p:nvPr/>
        </p:nvSpPr>
        <p:spPr>
          <a:xfrm>
            <a:off x="1147713" y="4584203"/>
            <a:ext cx="981359" cy="261610"/>
          </a:xfrm>
          <a:prstGeom prst="rect">
            <a:avLst/>
          </a:prstGeom>
        </p:spPr>
        <p:txBody>
          <a:bodyPr wrap="none">
            <a:spAutoFit/>
          </a:bodyPr>
          <a:lstStyle/>
          <a:p>
            <a:r>
              <a:rPr lang="en-US" sz="1100" b="1" dirty="0" smtClean="0">
                <a:solidFill>
                  <a:srgbClr val="374151"/>
                </a:solidFill>
                <a:latin typeface="DM Sans"/>
                <a:ea typeface="DM Sans"/>
                <a:cs typeface="DM Sans"/>
                <a:sym typeface="DM Sans"/>
              </a:rPr>
              <a:t>2007 ($2M)</a:t>
            </a:r>
            <a:endParaRPr lang="en-US" sz="1100" b="1" dirty="0"/>
          </a:p>
        </p:txBody>
      </p:sp>
      <p:sp>
        <p:nvSpPr>
          <p:cNvPr id="10" name="Rectangle 9"/>
          <p:cNvSpPr/>
          <p:nvPr/>
        </p:nvSpPr>
        <p:spPr>
          <a:xfrm>
            <a:off x="3281313" y="4584203"/>
            <a:ext cx="1183337" cy="261610"/>
          </a:xfrm>
          <a:prstGeom prst="rect">
            <a:avLst/>
          </a:prstGeom>
        </p:spPr>
        <p:txBody>
          <a:bodyPr wrap="none">
            <a:spAutoFit/>
          </a:bodyPr>
          <a:lstStyle/>
          <a:p>
            <a:r>
              <a:rPr lang="en-US" sz="1100" b="1" dirty="0" smtClean="0">
                <a:solidFill>
                  <a:srgbClr val="374151"/>
                </a:solidFill>
                <a:latin typeface="DM Sans"/>
                <a:ea typeface="DM Sans"/>
                <a:cs typeface="DM Sans"/>
                <a:sym typeface="DM Sans"/>
              </a:rPr>
              <a:t>2008 ($14.4M)</a:t>
            </a:r>
            <a:endParaRPr lang="en-US" sz="1100" b="1" dirty="0"/>
          </a:p>
        </p:txBody>
      </p:sp>
      <p:sp>
        <p:nvSpPr>
          <p:cNvPr id="11" name="Rectangle 10"/>
          <p:cNvSpPr/>
          <p:nvPr/>
        </p:nvSpPr>
        <p:spPr>
          <a:xfrm>
            <a:off x="5504331" y="4584203"/>
            <a:ext cx="1221809" cy="261610"/>
          </a:xfrm>
          <a:prstGeom prst="rect">
            <a:avLst/>
          </a:prstGeom>
        </p:spPr>
        <p:txBody>
          <a:bodyPr wrap="none">
            <a:spAutoFit/>
          </a:bodyPr>
          <a:lstStyle/>
          <a:p>
            <a:r>
              <a:rPr lang="en-US" sz="1100" b="1" dirty="0" smtClean="0">
                <a:solidFill>
                  <a:srgbClr val="374151"/>
                </a:solidFill>
                <a:latin typeface="DM Sans"/>
                <a:ea typeface="DM Sans"/>
                <a:cs typeface="DM Sans"/>
                <a:sym typeface="DM Sans"/>
              </a:rPr>
              <a:t>2009 ($46.4M)</a:t>
            </a:r>
            <a:endParaRPr lang="en-US" sz="1100" b="1" dirty="0"/>
          </a:p>
        </p:txBody>
      </p:sp>
      <p:sp>
        <p:nvSpPr>
          <p:cNvPr id="12" name="Rectangle 11"/>
          <p:cNvSpPr/>
          <p:nvPr/>
        </p:nvSpPr>
        <p:spPr>
          <a:xfrm>
            <a:off x="7765821" y="4584203"/>
            <a:ext cx="1176925" cy="261610"/>
          </a:xfrm>
          <a:prstGeom prst="rect">
            <a:avLst/>
          </a:prstGeom>
        </p:spPr>
        <p:txBody>
          <a:bodyPr wrap="none">
            <a:spAutoFit/>
          </a:bodyPr>
          <a:lstStyle/>
          <a:p>
            <a:r>
              <a:rPr lang="en-US" sz="1100" b="1" dirty="0" smtClean="0">
                <a:solidFill>
                  <a:srgbClr val="374151"/>
                </a:solidFill>
                <a:latin typeface="DM Sans"/>
                <a:ea typeface="DM Sans"/>
                <a:cs typeface="DM Sans"/>
                <a:sym typeface="DM Sans"/>
              </a:rPr>
              <a:t>2010 ($122.1M)</a:t>
            </a:r>
            <a:endParaRPr lang="en-US" sz="1100" b="1" dirty="0"/>
          </a:p>
        </p:txBody>
      </p:sp>
      <p:sp>
        <p:nvSpPr>
          <p:cNvPr id="13" name="Rectangle 12"/>
          <p:cNvSpPr/>
          <p:nvPr/>
        </p:nvSpPr>
        <p:spPr>
          <a:xfrm>
            <a:off x="9896702" y="4584203"/>
            <a:ext cx="1221809" cy="261610"/>
          </a:xfrm>
          <a:prstGeom prst="rect">
            <a:avLst/>
          </a:prstGeom>
        </p:spPr>
        <p:txBody>
          <a:bodyPr wrap="none">
            <a:spAutoFit/>
          </a:bodyPr>
          <a:lstStyle/>
          <a:p>
            <a:r>
              <a:rPr lang="en-US" sz="1100" b="1" dirty="0" smtClean="0">
                <a:solidFill>
                  <a:srgbClr val="374151"/>
                </a:solidFill>
                <a:latin typeface="DM Sans"/>
                <a:ea typeface="DM Sans"/>
                <a:cs typeface="DM Sans"/>
                <a:sym typeface="DM Sans"/>
              </a:rPr>
              <a:t>2011 ($260.5M)</a:t>
            </a:r>
            <a:endParaRPr lang="en-US" sz="1100" b="1"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9FAFB"/>
        </a:solidFill>
        <a:effectLst/>
      </p:bgPr>
    </p:bg>
    <p:spTree>
      <p:nvGrpSpPr>
        <p:cNvPr id="1" name="Shape 143"/>
        <p:cNvGrpSpPr/>
        <p:nvPr/>
      </p:nvGrpSpPr>
      <p:grpSpPr>
        <a:xfrm>
          <a:off x="0" y="0"/>
          <a:ext cx="0" cy="0"/>
          <a:chOff x="0" y="0"/>
          <a:chExt cx="0" cy="0"/>
        </a:xfrm>
      </p:grpSpPr>
      <p:pic>
        <p:nvPicPr>
          <p:cNvPr id="144" name="Google Shape;144;p1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45" name="Google Shape;145;p17" descr="image.png"/>
          <p:cNvPicPr preferRelativeResize="0"/>
          <p:nvPr/>
        </p:nvPicPr>
        <p:blipFill rotWithShape="1">
          <a:blip r:embed="rId4">
            <a:alphaModFix/>
          </a:blip>
          <a:srcRect/>
          <a:stretch/>
        </p:blipFill>
        <p:spPr>
          <a:xfrm>
            <a:off x="571500" y="2462212"/>
            <a:ext cx="11049000" cy="2857500"/>
          </a:xfrm>
          <a:prstGeom prst="rect">
            <a:avLst/>
          </a:prstGeom>
          <a:noFill/>
          <a:ln>
            <a:noFill/>
          </a:ln>
        </p:spPr>
      </p:pic>
      <p:sp>
        <p:nvSpPr>
          <p:cNvPr id="146" name="Google Shape;146;p17"/>
          <p:cNvSpPr txBox="1"/>
          <p:nvPr/>
        </p:nvSpPr>
        <p:spPr>
          <a:xfrm>
            <a:off x="571500" y="2843212"/>
            <a:ext cx="5286375" cy="8228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dirty="0">
                <a:solidFill>
                  <a:srgbClr val="374151"/>
                </a:solidFill>
                <a:latin typeface="DM Sans"/>
                <a:ea typeface="DM Sans"/>
                <a:cs typeface="DM Sans"/>
                <a:sym typeface="DM Sans"/>
              </a:rPr>
              <a:t>Grade B</a:t>
            </a:r>
            <a:r>
              <a:rPr lang="en-US" sz="1350" b="0" i="0" u="none" strike="noStrike" cap="none" dirty="0">
                <a:solidFill>
                  <a:srgbClr val="374151"/>
                </a:solidFill>
                <a:latin typeface="DM Sans"/>
                <a:ea typeface="DM Sans"/>
                <a:cs typeface="DM Sans"/>
                <a:sym typeface="DM Sans"/>
              </a:rPr>
              <a:t> accounts for the largest revolving balance (₹161.3M), indicating a core concentration in moderate-risk, high-volume territory.</a:t>
            </a:r>
            <a:endParaRPr dirty="0"/>
          </a:p>
        </p:txBody>
      </p:sp>
      <p:sp>
        <p:nvSpPr>
          <p:cNvPr id="147" name="Google Shape;147;p17"/>
          <p:cNvSpPr txBox="1"/>
          <p:nvPr/>
        </p:nvSpPr>
        <p:spPr>
          <a:xfrm>
            <a:off x="571500" y="3808958"/>
            <a:ext cx="5286375"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74151"/>
                </a:solidFill>
                <a:latin typeface="DM Sans"/>
                <a:ea typeface="DM Sans"/>
                <a:cs typeface="DM Sans"/>
                <a:sym typeface="DM Sans"/>
              </a:rPr>
              <a:t>Grades F and G are kept at minimal levels (₹6.5M), demonstrating effective mitigation of extremely high-risk exposure.</a:t>
            </a:r>
            <a:endParaRPr/>
          </a:p>
        </p:txBody>
      </p:sp>
      <p:sp>
        <p:nvSpPr>
          <p:cNvPr id="148" name="Google Shape;148;p17"/>
          <p:cNvSpPr txBox="1"/>
          <p:nvPr/>
        </p:nvSpPr>
        <p:spPr>
          <a:xfrm>
            <a:off x="571500" y="571500"/>
            <a:ext cx="11601450" cy="4476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1E3A8A"/>
                </a:solidFill>
                <a:latin typeface="Merriweather"/>
                <a:ea typeface="Merriweather"/>
                <a:cs typeface="Merriweather"/>
                <a:sym typeface="Merriweather"/>
              </a:rPr>
              <a:t>Risk Segmentation by Credit Grade</a:t>
            </a:r>
            <a:endParaRPr/>
          </a:p>
        </p:txBody>
      </p:sp>
      <p:sp>
        <p:nvSpPr>
          <p:cNvPr id="149" name="Google Shape;149;p17"/>
          <p:cNvSpPr/>
          <p:nvPr/>
        </p:nvSpPr>
        <p:spPr>
          <a:xfrm>
            <a:off x="571500" y="1095375"/>
            <a:ext cx="11049000" cy="19050"/>
          </a:xfrm>
          <a:prstGeom prst="rect">
            <a:avLst/>
          </a:prstGeom>
          <a:solidFill>
            <a:srgbClr val="D1D5D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9FAFB"/>
        </a:solidFill>
        <a:effectLst/>
      </p:bgPr>
    </p:bg>
    <p:spTree>
      <p:nvGrpSpPr>
        <p:cNvPr id="1" name="Shape 153"/>
        <p:cNvGrpSpPr/>
        <p:nvPr/>
      </p:nvGrpSpPr>
      <p:grpSpPr>
        <a:xfrm>
          <a:off x="0" y="0"/>
          <a:ext cx="0" cy="0"/>
          <a:chOff x="0" y="0"/>
          <a:chExt cx="0" cy="0"/>
        </a:xfrm>
      </p:grpSpPr>
      <p:pic>
        <p:nvPicPr>
          <p:cNvPr id="154" name="Google Shape;154;p18"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55" name="Google Shape;155;p18" descr="image.png"/>
          <p:cNvPicPr preferRelativeResize="0"/>
          <p:nvPr/>
        </p:nvPicPr>
        <p:blipFill rotWithShape="1">
          <a:blip r:embed="rId4">
            <a:alphaModFix/>
          </a:blip>
          <a:srcRect/>
          <a:stretch/>
        </p:blipFill>
        <p:spPr>
          <a:xfrm>
            <a:off x="1643063" y="2462212"/>
            <a:ext cx="3048000" cy="3048000"/>
          </a:xfrm>
          <a:prstGeom prst="rect">
            <a:avLst/>
          </a:prstGeom>
          <a:noFill/>
          <a:ln>
            <a:noFill/>
          </a:ln>
        </p:spPr>
      </p:pic>
      <p:sp>
        <p:nvSpPr>
          <p:cNvPr id="156" name="Google Shape;156;p18"/>
          <p:cNvSpPr txBox="1"/>
          <p:nvPr/>
        </p:nvSpPr>
        <p:spPr>
          <a:xfrm>
            <a:off x="2641997" y="3695699"/>
            <a:ext cx="1050131"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dirty="0">
                <a:solidFill>
                  <a:srgbClr val="111827"/>
                </a:solidFill>
                <a:latin typeface="Merriweather"/>
                <a:ea typeface="Merriweather"/>
                <a:cs typeface="Merriweather"/>
                <a:sym typeface="Merriweather"/>
              </a:rPr>
              <a:t>45%</a:t>
            </a:r>
            <a:endParaRPr dirty="0"/>
          </a:p>
        </p:txBody>
      </p:sp>
      <p:sp>
        <p:nvSpPr>
          <p:cNvPr id="157" name="Google Shape;157;p18"/>
          <p:cNvSpPr txBox="1"/>
          <p:nvPr/>
        </p:nvSpPr>
        <p:spPr>
          <a:xfrm>
            <a:off x="6334125" y="2825204"/>
            <a:ext cx="5286375" cy="2742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374151"/>
                </a:solidFill>
                <a:latin typeface="DM Sans"/>
                <a:ea typeface="DM Sans"/>
                <a:cs typeface="DM Sans"/>
                <a:sym typeface="DM Sans"/>
              </a:rPr>
              <a:t>Verification Breakdown:</a:t>
            </a:r>
            <a:endParaRPr/>
          </a:p>
        </p:txBody>
      </p:sp>
      <p:sp>
        <p:nvSpPr>
          <p:cNvPr id="158" name="Google Shape;158;p18"/>
          <p:cNvSpPr txBox="1"/>
          <p:nvPr/>
        </p:nvSpPr>
        <p:spPr>
          <a:xfrm>
            <a:off x="6334125" y="4265265"/>
            <a:ext cx="5286375"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1" u="none" strike="noStrike" cap="none">
                <a:solidFill>
                  <a:srgbClr val="374151"/>
                </a:solidFill>
                <a:latin typeface="DM Sans"/>
                <a:ea typeface="DM Sans"/>
                <a:cs typeface="DM Sans"/>
                <a:sym typeface="DM Sans"/>
              </a:rPr>
              <a:t>Management recommendation: Mandatory verification for any Grade C+ applications over ₹25k.</a:t>
            </a:r>
            <a:endParaRPr/>
          </a:p>
        </p:txBody>
      </p:sp>
      <p:sp>
        <p:nvSpPr>
          <p:cNvPr id="159" name="Google Shape;159;p18"/>
          <p:cNvSpPr txBox="1"/>
          <p:nvPr/>
        </p:nvSpPr>
        <p:spPr>
          <a:xfrm>
            <a:off x="6648450" y="3250942"/>
            <a:ext cx="66675"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1E3A8A"/>
                </a:solidFill>
                <a:latin typeface="DM Sans"/>
                <a:ea typeface="DM Sans"/>
                <a:cs typeface="DM Sans"/>
                <a:sym typeface="DM Sans"/>
              </a:rPr>
              <a:t>•</a:t>
            </a:r>
            <a:endParaRPr/>
          </a:p>
        </p:txBody>
      </p:sp>
      <p:sp>
        <p:nvSpPr>
          <p:cNvPr id="160" name="Google Shape;160;p18"/>
          <p:cNvSpPr txBox="1"/>
          <p:nvPr/>
        </p:nvSpPr>
        <p:spPr>
          <a:xfrm>
            <a:off x="6724650" y="3210490"/>
            <a:ext cx="4905375" cy="274290"/>
          </a:xfrm>
          <a:prstGeom prst="rect">
            <a:avLst/>
          </a:prstGeom>
          <a:noFill/>
          <a:ln>
            <a:noFill/>
          </a:ln>
        </p:spPr>
        <p:txBody>
          <a:bodyPr spcFirstLastPara="1" wrap="square" lIns="66675" tIns="0" rIns="0" bIns="0" anchor="t" anchorCtr="0">
            <a:spAutoFit/>
          </a:bodyPr>
          <a:lstStyle/>
          <a:p>
            <a:pPr marL="0" marR="0" lvl="0" indent="0" algn="l" rtl="0">
              <a:lnSpc>
                <a:spcPct val="160000"/>
              </a:lnSpc>
              <a:spcBef>
                <a:spcPts val="0"/>
              </a:spcBef>
              <a:spcAft>
                <a:spcPts val="0"/>
              </a:spcAft>
              <a:buNone/>
            </a:pPr>
            <a:r>
              <a:rPr lang="en-US" sz="1350" b="1" i="0" u="none" strike="noStrike" cap="none" dirty="0">
                <a:solidFill>
                  <a:srgbClr val="1E3A8A"/>
                </a:solidFill>
                <a:latin typeface="DM Sans"/>
                <a:ea typeface="DM Sans"/>
                <a:cs typeface="DM Sans"/>
                <a:sym typeface="DM Sans"/>
              </a:rPr>
              <a:t>45% Fully Verified (Core Trust)</a:t>
            </a:r>
            <a:endParaRPr dirty="0"/>
          </a:p>
        </p:txBody>
      </p:sp>
      <p:sp>
        <p:nvSpPr>
          <p:cNvPr id="161" name="Google Shape;161;p18"/>
          <p:cNvSpPr txBox="1"/>
          <p:nvPr/>
        </p:nvSpPr>
        <p:spPr>
          <a:xfrm>
            <a:off x="6657975" y="3525232"/>
            <a:ext cx="57150"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6B7280"/>
                </a:solidFill>
                <a:latin typeface="DM Sans"/>
                <a:ea typeface="DM Sans"/>
                <a:cs typeface="DM Sans"/>
                <a:sym typeface="DM Sans"/>
              </a:rPr>
              <a:t>•</a:t>
            </a:r>
            <a:endParaRPr/>
          </a:p>
        </p:txBody>
      </p:sp>
      <p:sp>
        <p:nvSpPr>
          <p:cNvPr id="162" name="Google Shape;162;p18"/>
          <p:cNvSpPr txBox="1"/>
          <p:nvPr/>
        </p:nvSpPr>
        <p:spPr>
          <a:xfrm>
            <a:off x="6724650" y="3484780"/>
            <a:ext cx="4905375" cy="274290"/>
          </a:xfrm>
          <a:prstGeom prst="rect">
            <a:avLst/>
          </a:prstGeom>
          <a:noFill/>
          <a:ln>
            <a:noFill/>
          </a:ln>
        </p:spPr>
        <p:txBody>
          <a:bodyPr spcFirstLastPara="1" wrap="square" lIns="57150" tIns="0" rIns="0" bIns="0" anchor="t" anchorCtr="0">
            <a:spAutoFit/>
          </a:bodyPr>
          <a:lstStyle/>
          <a:p>
            <a:pPr marL="0" marR="0" lvl="0" indent="0" algn="l" rtl="0">
              <a:lnSpc>
                <a:spcPct val="160000"/>
              </a:lnSpc>
              <a:spcBef>
                <a:spcPts val="0"/>
              </a:spcBef>
              <a:spcAft>
                <a:spcPts val="0"/>
              </a:spcAft>
              <a:buNone/>
            </a:pPr>
            <a:r>
              <a:rPr lang="en-US" sz="1350" b="0" i="0" u="none" strike="noStrike" cap="none" dirty="0">
                <a:solidFill>
                  <a:srgbClr val="6B7280"/>
                </a:solidFill>
                <a:latin typeface="DM Sans"/>
                <a:ea typeface="DM Sans"/>
                <a:cs typeface="DM Sans"/>
                <a:sym typeface="DM Sans"/>
              </a:rPr>
              <a:t>23% Source Verified (Documentation)</a:t>
            </a:r>
            <a:endParaRPr dirty="0"/>
          </a:p>
        </p:txBody>
      </p:sp>
      <p:sp>
        <p:nvSpPr>
          <p:cNvPr id="163" name="Google Shape;163;p18"/>
          <p:cNvSpPr txBox="1"/>
          <p:nvPr/>
        </p:nvSpPr>
        <p:spPr>
          <a:xfrm>
            <a:off x="6648450" y="3799522"/>
            <a:ext cx="66675"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dirty="0">
                <a:solidFill>
                  <a:srgbClr val="D97706"/>
                </a:solidFill>
                <a:latin typeface="DM Sans"/>
                <a:ea typeface="DM Sans"/>
                <a:cs typeface="DM Sans"/>
                <a:sym typeface="DM Sans"/>
              </a:rPr>
              <a:t>•</a:t>
            </a:r>
            <a:endParaRPr dirty="0"/>
          </a:p>
        </p:txBody>
      </p:sp>
      <p:sp>
        <p:nvSpPr>
          <p:cNvPr id="164" name="Google Shape;164;p18"/>
          <p:cNvSpPr txBox="1"/>
          <p:nvPr/>
        </p:nvSpPr>
        <p:spPr>
          <a:xfrm>
            <a:off x="6724650" y="3759071"/>
            <a:ext cx="4905375" cy="274290"/>
          </a:xfrm>
          <a:prstGeom prst="rect">
            <a:avLst/>
          </a:prstGeom>
          <a:noFill/>
          <a:ln>
            <a:noFill/>
          </a:ln>
        </p:spPr>
        <p:txBody>
          <a:bodyPr spcFirstLastPara="1" wrap="square" lIns="66675" tIns="0" rIns="0" bIns="0" anchor="t" anchorCtr="0">
            <a:spAutoFit/>
          </a:bodyPr>
          <a:lstStyle/>
          <a:p>
            <a:pPr marL="0" marR="0" lvl="0" indent="0" algn="l" rtl="0">
              <a:lnSpc>
                <a:spcPct val="160000"/>
              </a:lnSpc>
              <a:spcBef>
                <a:spcPts val="0"/>
              </a:spcBef>
              <a:spcAft>
                <a:spcPts val="0"/>
              </a:spcAft>
              <a:buNone/>
            </a:pPr>
            <a:r>
              <a:rPr lang="en-US" sz="1350" b="1" i="0" u="none" strike="noStrike" cap="none" dirty="0">
                <a:solidFill>
                  <a:srgbClr val="D97706"/>
                </a:solidFill>
                <a:latin typeface="DM Sans"/>
                <a:ea typeface="DM Sans"/>
                <a:cs typeface="DM Sans"/>
                <a:sym typeface="DM Sans"/>
              </a:rPr>
              <a:t>32% Not Verified (High Risk Area)</a:t>
            </a:r>
            <a:endParaRPr dirty="0"/>
          </a:p>
        </p:txBody>
      </p:sp>
      <p:sp>
        <p:nvSpPr>
          <p:cNvPr id="165" name="Google Shape;165;p18"/>
          <p:cNvSpPr txBox="1"/>
          <p:nvPr/>
        </p:nvSpPr>
        <p:spPr>
          <a:xfrm>
            <a:off x="571500" y="571500"/>
            <a:ext cx="11601450" cy="415498"/>
          </a:xfrm>
          <a:prstGeom prst="rect">
            <a:avLst/>
          </a:prstGeom>
          <a:noFill/>
          <a:ln>
            <a:noFill/>
          </a:ln>
        </p:spPr>
        <p:txBody>
          <a:bodyPr spcFirstLastPara="1" wrap="square" lIns="0" tIns="0" rIns="0" bIns="0" anchor="t" anchorCtr="0">
            <a:spAutoFit/>
          </a:bodyPr>
          <a:lstStyle/>
          <a:p>
            <a:pPr lvl="0"/>
            <a:r>
              <a:rPr lang="en-US" sz="2700" b="1" dirty="0">
                <a:solidFill>
                  <a:srgbClr val="1E3A8A"/>
                </a:solidFill>
                <a:latin typeface="Merriweather"/>
                <a:ea typeface="Merriweather"/>
                <a:cs typeface="Merriweather"/>
                <a:sym typeface="Merriweather"/>
              </a:rPr>
              <a:t>Verification: Can we trust the Borrower?</a:t>
            </a:r>
          </a:p>
        </p:txBody>
      </p:sp>
      <p:sp>
        <p:nvSpPr>
          <p:cNvPr id="166" name="Google Shape;166;p18"/>
          <p:cNvSpPr/>
          <p:nvPr/>
        </p:nvSpPr>
        <p:spPr>
          <a:xfrm>
            <a:off x="571500" y="1095375"/>
            <a:ext cx="11049000" cy="19050"/>
          </a:xfrm>
          <a:prstGeom prst="rect">
            <a:avLst/>
          </a:prstGeom>
          <a:solidFill>
            <a:srgbClr val="D1D5D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9FAFB"/>
        </a:solidFill>
        <a:effectLst/>
      </p:bgPr>
    </p:bg>
    <p:spTree>
      <p:nvGrpSpPr>
        <p:cNvPr id="1" name="Shape 170"/>
        <p:cNvGrpSpPr/>
        <p:nvPr/>
      </p:nvGrpSpPr>
      <p:grpSpPr>
        <a:xfrm>
          <a:off x="0" y="0"/>
          <a:ext cx="0" cy="0"/>
          <a:chOff x="0" y="0"/>
          <a:chExt cx="0" cy="0"/>
        </a:xfrm>
      </p:grpSpPr>
      <p:pic>
        <p:nvPicPr>
          <p:cNvPr id="171" name="Google Shape;171;p19" descr="image.png"/>
          <p:cNvPicPr preferRelativeResize="0"/>
          <p:nvPr/>
        </p:nvPicPr>
        <p:blipFill rotWithShape="1">
          <a:blip r:embed="rId3">
            <a:alphaModFix/>
          </a:blip>
          <a:srcRect/>
          <a:stretch/>
        </p:blipFill>
        <p:spPr>
          <a:xfrm>
            <a:off x="0" y="-294290"/>
            <a:ext cx="12192000" cy="6858000"/>
          </a:xfrm>
          <a:prstGeom prst="rect">
            <a:avLst/>
          </a:prstGeom>
          <a:noFill/>
          <a:ln>
            <a:noFill/>
          </a:ln>
        </p:spPr>
      </p:pic>
      <p:pic>
        <p:nvPicPr>
          <p:cNvPr id="172" name="Google Shape;172;p19" descr="image.png"/>
          <p:cNvPicPr preferRelativeResize="0"/>
          <p:nvPr/>
        </p:nvPicPr>
        <p:blipFill rotWithShape="1">
          <a:blip r:embed="rId4">
            <a:alphaModFix/>
          </a:blip>
          <a:srcRect/>
          <a:stretch/>
        </p:blipFill>
        <p:spPr>
          <a:xfrm>
            <a:off x="6334125" y="2081212"/>
            <a:ext cx="5286375" cy="3619500"/>
          </a:xfrm>
          <a:prstGeom prst="rect">
            <a:avLst/>
          </a:prstGeom>
          <a:noFill/>
          <a:ln>
            <a:noFill/>
          </a:ln>
        </p:spPr>
      </p:pic>
      <p:sp>
        <p:nvSpPr>
          <p:cNvPr id="177" name="Google Shape;177;p19"/>
          <p:cNvSpPr txBox="1"/>
          <p:nvPr/>
        </p:nvSpPr>
        <p:spPr>
          <a:xfrm>
            <a:off x="571500" y="571500"/>
            <a:ext cx="11601450" cy="4476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1E3A8A"/>
                </a:solidFill>
                <a:latin typeface="Merriweather"/>
                <a:ea typeface="Merriweather"/>
                <a:cs typeface="Merriweather"/>
                <a:sym typeface="Merriweather"/>
              </a:rPr>
              <a:t>Geographical Market Concentration</a:t>
            </a:r>
            <a:endParaRPr/>
          </a:p>
        </p:txBody>
      </p:sp>
      <p:sp>
        <p:nvSpPr>
          <p:cNvPr id="178" name="Google Shape;178;p19"/>
          <p:cNvSpPr/>
          <p:nvPr/>
        </p:nvSpPr>
        <p:spPr>
          <a:xfrm>
            <a:off x="571500" y="1095375"/>
            <a:ext cx="11049000" cy="19050"/>
          </a:xfrm>
          <a:prstGeom prst="rect">
            <a:avLst/>
          </a:prstGeom>
          <a:solidFill>
            <a:srgbClr val="D1D5D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0" name="Google Shape;136;p17" descr="image.png"/>
          <p:cNvPicPr preferRelativeResize="0"/>
          <p:nvPr/>
        </p:nvPicPr>
        <p:blipFill rotWithShape="1">
          <a:blip r:embed="rId5">
            <a:alphaModFix/>
            <a:duotone>
              <a:schemeClr val="accent6">
                <a:shade val="45000"/>
                <a:satMod val="135000"/>
              </a:schemeClr>
              <a:prstClr val="white"/>
            </a:duotone>
            <a:extLst>
              <a:ext uri="{BEBA8EAE-BF5A-486C-A8C5-ECC9F3942E4B}">
                <a14:imgProps xmlns:a14="http://schemas.microsoft.com/office/drawing/2010/main">
                  <a14:imgLayer r:embed="rId6">
                    <a14:imgEffect>
                      <a14:colorTemperature colorTemp="8309"/>
                    </a14:imgEffect>
                    <a14:imgEffect>
                      <a14:saturation sat="1000"/>
                    </a14:imgEffect>
                  </a14:imgLayer>
                </a14:imgProps>
              </a:ext>
            </a:extLst>
          </a:blip>
          <a:srcRect/>
          <a:stretch/>
        </p:blipFill>
        <p:spPr>
          <a:xfrm>
            <a:off x="95250" y="1190625"/>
            <a:ext cx="11049000" cy="4848225"/>
          </a:xfrm>
          <a:prstGeom prst="rect">
            <a:avLst/>
          </a:prstGeom>
          <a:noFill/>
          <a:ln>
            <a:noFill/>
          </a:ln>
        </p:spPr>
      </p:pic>
      <p:sp>
        <p:nvSpPr>
          <p:cNvPr id="12" name="Google Shape;137;p16"/>
          <p:cNvSpPr txBox="1"/>
          <p:nvPr/>
        </p:nvSpPr>
        <p:spPr>
          <a:xfrm>
            <a:off x="571500" y="5492055"/>
            <a:ext cx="11049000" cy="664797"/>
          </a:xfrm>
          <a:prstGeom prst="rect">
            <a:avLst/>
          </a:prstGeom>
          <a:noFill/>
          <a:ln>
            <a:noFill/>
          </a:ln>
        </p:spPr>
        <p:txBody>
          <a:bodyPr spcFirstLastPara="1" wrap="square" lIns="0" tIns="0" rIns="0" bIns="0" anchor="t" anchorCtr="0">
            <a:spAutoFit/>
          </a:bodyPr>
          <a:lstStyle/>
          <a:p>
            <a:pPr lvl="0">
              <a:lnSpc>
                <a:spcPct val="160000"/>
              </a:lnSpc>
            </a:pPr>
            <a:r>
              <a:rPr lang="en-US" sz="1350" b="1" dirty="0">
                <a:solidFill>
                  <a:srgbClr val="374151"/>
                </a:solidFill>
                <a:latin typeface="DM Sans"/>
                <a:ea typeface="DM Sans"/>
                <a:cs typeface="DM Sans"/>
                <a:sym typeface="DM Sans"/>
              </a:rPr>
              <a:t>Insight: </a:t>
            </a:r>
            <a:r>
              <a:rPr lang="en-US" sz="1350" dirty="0">
                <a:solidFill>
                  <a:srgbClr val="374151"/>
                </a:solidFill>
                <a:latin typeface="DM Sans"/>
                <a:ea typeface="DM Sans"/>
                <a:cs typeface="DM Sans"/>
                <a:sym typeface="DM Sans"/>
              </a:rPr>
              <a:t>California (CA) is our biggest market. By focusing our marketing and branch operations in these high-volume states, we can maximize our profit with lower effort.</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9FAFB"/>
        </a:solidFill>
        <a:effectLst/>
      </p:bgPr>
    </p:bg>
    <p:spTree>
      <p:nvGrpSpPr>
        <p:cNvPr id="1" name="Shape 182"/>
        <p:cNvGrpSpPr/>
        <p:nvPr/>
      </p:nvGrpSpPr>
      <p:grpSpPr>
        <a:xfrm>
          <a:off x="0" y="0"/>
          <a:ext cx="0" cy="0"/>
          <a:chOff x="0" y="0"/>
          <a:chExt cx="0" cy="0"/>
        </a:xfrm>
      </p:grpSpPr>
      <p:pic>
        <p:nvPicPr>
          <p:cNvPr id="13" name="Google Shape;183;p20"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4" name="Google Shape;185;p20" descr="image.png"/>
          <p:cNvPicPr preferRelativeResize="0"/>
          <p:nvPr/>
        </p:nvPicPr>
        <p:blipFill rotWithShape="1">
          <a:blip r:embed="rId4">
            <a:alphaModFix/>
          </a:blip>
          <a:srcRect/>
          <a:stretch/>
        </p:blipFill>
        <p:spPr>
          <a:xfrm>
            <a:off x="571500" y="5334000"/>
            <a:ext cx="11049000" cy="1380483"/>
          </a:xfrm>
          <a:prstGeom prst="rect">
            <a:avLst/>
          </a:prstGeom>
          <a:noFill/>
          <a:ln>
            <a:noFill/>
          </a:ln>
        </p:spPr>
      </p:pic>
      <p:sp>
        <p:nvSpPr>
          <p:cNvPr id="16" name="Google Shape;189;p20"/>
          <p:cNvSpPr txBox="1"/>
          <p:nvPr/>
        </p:nvSpPr>
        <p:spPr>
          <a:xfrm>
            <a:off x="1149429" y="5556805"/>
            <a:ext cx="10369391" cy="934871"/>
          </a:xfrm>
          <a:prstGeom prst="rect">
            <a:avLst/>
          </a:prstGeom>
          <a:noFill/>
          <a:ln>
            <a:noFill/>
          </a:ln>
        </p:spPr>
        <p:txBody>
          <a:bodyPr spcFirstLastPara="1" wrap="square" lIns="0" tIns="0" rIns="0" bIns="0" anchor="t" anchorCtr="0">
            <a:spAutoFit/>
          </a:bodyPr>
          <a:lstStyle/>
          <a:p>
            <a:pPr lvl="0">
              <a:lnSpc>
                <a:spcPct val="150000"/>
              </a:lnSpc>
            </a:pPr>
            <a:r>
              <a:rPr lang="en-US" sz="1350" dirty="0">
                <a:solidFill>
                  <a:srgbClr val="374151"/>
                </a:solidFill>
                <a:latin typeface="DM Sans"/>
                <a:ea typeface="DM Sans"/>
                <a:cs typeface="DM Sans"/>
                <a:sym typeface="DM Sans"/>
              </a:rPr>
              <a:t>Developed an interactive Excel dashboard to analyze loan applications, funded amounts, repayments, interest rates, and borrower grades. Utilized pivot tables, slicers, and data visualization techniques to track loan performance, payment status, and state-wise distribution, enabling clear financial insights and decision-making.</a:t>
            </a:r>
            <a:endParaRPr dirty="0"/>
          </a:p>
        </p:txBody>
      </p:sp>
      <p:pic>
        <p:nvPicPr>
          <p:cNvPr id="17" name="Google Shape;191;p20" descr="image.png"/>
          <p:cNvPicPr preferRelativeResize="0"/>
          <p:nvPr/>
        </p:nvPicPr>
        <p:blipFill rotWithShape="1">
          <a:blip r:embed="rId5">
            <a:alphaModFix/>
          </a:blip>
          <a:srcRect/>
          <a:stretch/>
        </p:blipFill>
        <p:spPr>
          <a:xfrm>
            <a:off x="704849" y="5833740"/>
            <a:ext cx="285750" cy="381000"/>
          </a:xfrm>
          <a:prstGeom prst="rect">
            <a:avLst/>
          </a:prstGeom>
          <a:noFill/>
          <a:ln>
            <a:noFill/>
          </a:ln>
        </p:spPr>
      </p:pic>
      <p:sp>
        <p:nvSpPr>
          <p:cNvPr id="18" name="Google Shape;192;p20"/>
          <p:cNvSpPr txBox="1"/>
          <p:nvPr/>
        </p:nvSpPr>
        <p:spPr>
          <a:xfrm>
            <a:off x="571500" y="571500"/>
            <a:ext cx="11601450" cy="4154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dirty="0" smtClean="0">
                <a:solidFill>
                  <a:srgbClr val="1E3A8A"/>
                </a:solidFill>
                <a:latin typeface="Merriweather"/>
                <a:ea typeface="Merriweather"/>
                <a:cs typeface="Merriweather"/>
                <a:sym typeface="Merriweather"/>
              </a:rPr>
              <a:t>Excel Dashboard</a:t>
            </a:r>
            <a:endParaRPr dirty="0"/>
          </a:p>
        </p:txBody>
      </p:sp>
      <p:pic>
        <p:nvPicPr>
          <p:cNvPr id="19" name="Picture 1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62100" y="1254381"/>
            <a:ext cx="9067800" cy="3939663"/>
          </a:xfrm>
          <a:prstGeom prst="rect">
            <a:avLst/>
          </a:prstGeom>
        </p:spPr>
      </p:pic>
      <p:sp>
        <p:nvSpPr>
          <p:cNvPr id="20" name="Google Shape;193;p20"/>
          <p:cNvSpPr/>
          <p:nvPr/>
        </p:nvSpPr>
        <p:spPr>
          <a:xfrm>
            <a:off x="571500" y="1095375"/>
            <a:ext cx="11049000" cy="19050"/>
          </a:xfrm>
          <a:prstGeom prst="rect">
            <a:avLst/>
          </a:prstGeom>
          <a:solidFill>
            <a:srgbClr val="D1D5D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9FAFB"/>
        </a:solidFill>
        <a:effectLst/>
      </p:bgPr>
    </p:bg>
    <p:spTree>
      <p:nvGrpSpPr>
        <p:cNvPr id="1" name="Shape 182"/>
        <p:cNvGrpSpPr/>
        <p:nvPr/>
      </p:nvGrpSpPr>
      <p:grpSpPr>
        <a:xfrm>
          <a:off x="0" y="0"/>
          <a:ext cx="0" cy="0"/>
          <a:chOff x="0" y="0"/>
          <a:chExt cx="0" cy="0"/>
        </a:xfrm>
      </p:grpSpPr>
      <p:pic>
        <p:nvPicPr>
          <p:cNvPr id="13" name="Google Shape;183;p20" descr="image.png"/>
          <p:cNvPicPr preferRelativeResize="0"/>
          <p:nvPr/>
        </p:nvPicPr>
        <p:blipFill rotWithShape="1">
          <a:blip r:embed="rId3">
            <a:alphaModFix/>
          </a:blip>
          <a:srcRect/>
          <a:stretch/>
        </p:blipFill>
        <p:spPr>
          <a:xfrm>
            <a:off x="0" y="-9525"/>
            <a:ext cx="12192000" cy="6858000"/>
          </a:xfrm>
          <a:prstGeom prst="rect">
            <a:avLst/>
          </a:prstGeom>
          <a:noFill/>
          <a:ln>
            <a:noFill/>
          </a:ln>
        </p:spPr>
      </p:pic>
      <p:pic>
        <p:nvPicPr>
          <p:cNvPr id="14" name="Google Shape;185;p20" descr="image.png"/>
          <p:cNvPicPr preferRelativeResize="0"/>
          <p:nvPr/>
        </p:nvPicPr>
        <p:blipFill rotWithShape="1">
          <a:blip r:embed="rId4">
            <a:alphaModFix/>
          </a:blip>
          <a:srcRect/>
          <a:stretch/>
        </p:blipFill>
        <p:spPr>
          <a:xfrm>
            <a:off x="571500" y="5334000"/>
            <a:ext cx="11049000" cy="1380483"/>
          </a:xfrm>
          <a:prstGeom prst="rect">
            <a:avLst/>
          </a:prstGeom>
          <a:noFill/>
          <a:ln>
            <a:noFill/>
          </a:ln>
        </p:spPr>
      </p:pic>
      <p:sp>
        <p:nvSpPr>
          <p:cNvPr id="16" name="Google Shape;189;p20"/>
          <p:cNvSpPr txBox="1"/>
          <p:nvPr/>
        </p:nvSpPr>
        <p:spPr>
          <a:xfrm>
            <a:off x="1362075" y="5556805"/>
            <a:ext cx="10156745" cy="934871"/>
          </a:xfrm>
          <a:prstGeom prst="rect">
            <a:avLst/>
          </a:prstGeom>
          <a:noFill/>
          <a:ln>
            <a:noFill/>
          </a:ln>
        </p:spPr>
        <p:txBody>
          <a:bodyPr spcFirstLastPara="1" wrap="square" lIns="0" tIns="0" rIns="0" bIns="0" anchor="t" anchorCtr="0">
            <a:spAutoFit/>
          </a:bodyPr>
          <a:lstStyle/>
          <a:p>
            <a:pPr lvl="0">
              <a:lnSpc>
                <a:spcPct val="150000"/>
              </a:lnSpc>
            </a:pPr>
            <a:r>
              <a:rPr lang="en-US" sz="1350" dirty="0">
                <a:solidFill>
                  <a:srgbClr val="374151"/>
                </a:solidFill>
                <a:latin typeface="DM Sans"/>
                <a:ea typeface="DM Sans"/>
                <a:cs typeface="DM Sans"/>
                <a:sym typeface="DM Sans"/>
              </a:rPr>
              <a:t>Developed an interactive Power BI dashboard to analyze total loan amount, funded amount, accounts, late fees, and recoveries. The dashboard provides insights by grade, sub-grade, employee length, verification status, home ownership, and monthly trends, enabling effective monitoring of loan performance and risk distribution.</a:t>
            </a:r>
            <a:endParaRPr dirty="0"/>
          </a:p>
        </p:txBody>
      </p:sp>
      <p:sp>
        <p:nvSpPr>
          <p:cNvPr id="18" name="Google Shape;192;p20"/>
          <p:cNvSpPr txBox="1"/>
          <p:nvPr/>
        </p:nvSpPr>
        <p:spPr>
          <a:xfrm>
            <a:off x="571500" y="571500"/>
            <a:ext cx="11601450" cy="4154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dirty="0" smtClean="0">
                <a:solidFill>
                  <a:srgbClr val="1E3A8A"/>
                </a:solidFill>
                <a:latin typeface="Merriweather"/>
                <a:ea typeface="Merriweather"/>
                <a:cs typeface="Merriweather"/>
                <a:sym typeface="Merriweather"/>
              </a:rPr>
              <a:t>Power Bi Dashboard</a:t>
            </a:r>
            <a:endParaRPr dirty="0"/>
          </a:p>
        </p:txBody>
      </p:sp>
      <p:sp>
        <p:nvSpPr>
          <p:cNvPr id="20" name="Google Shape;193;p20"/>
          <p:cNvSpPr/>
          <p:nvPr/>
        </p:nvSpPr>
        <p:spPr>
          <a:xfrm>
            <a:off x="571500" y="1095375"/>
            <a:ext cx="11049000" cy="19050"/>
          </a:xfrm>
          <a:prstGeom prst="rect">
            <a:avLst/>
          </a:prstGeom>
          <a:solidFill>
            <a:srgbClr val="D1D5D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 name="Picture 2"/>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62667" y1="44643" x2="62667" y2="44643"/>
                        <a14:foregroundMark x1="42222" y1="54464" x2="42222" y2="54464"/>
                        <a14:foregroundMark x1="24889" y1="55357" x2="24889" y2="55357"/>
                        <a14:foregroundMark x1="15556" y1="60714" x2="15556" y2="60714"/>
                        <a14:foregroundMark x1="13778" y1="38839" x2="13778" y2="38839"/>
                      </a14:backgroundRemoval>
                    </a14:imgEffect>
                  </a14:imgLayer>
                </a14:imgProps>
              </a:ext>
              <a:ext uri="{28A0092B-C50C-407E-A947-70E740481C1C}">
                <a14:useLocalDpi xmlns:a14="http://schemas.microsoft.com/office/drawing/2010/main" val="0"/>
              </a:ext>
            </a:extLst>
          </a:blip>
          <a:stretch>
            <a:fillRect/>
          </a:stretch>
        </p:blipFill>
        <p:spPr>
          <a:xfrm>
            <a:off x="719911" y="5778460"/>
            <a:ext cx="493753" cy="491559"/>
          </a:xfrm>
          <a:prstGeom prst="rect">
            <a:avLst/>
          </a:prstGeom>
        </p:spPr>
      </p:pic>
      <p:pic>
        <p:nvPicPr>
          <p:cNvPr id="4" name="Picture 3"/>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252662" y="1225888"/>
            <a:ext cx="7686675" cy="3964595"/>
          </a:xfrm>
          <a:prstGeom prst="rect">
            <a:avLst/>
          </a:prstGeom>
        </p:spPr>
      </p:pic>
    </p:spTree>
    <p:extLst>
      <p:ext uri="{BB962C8B-B14F-4D97-AF65-F5344CB8AC3E}">
        <p14:creationId xmlns:p14="http://schemas.microsoft.com/office/powerpoint/2010/main" val="143144739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9FAFB"/>
        </a:solidFill>
        <a:effectLst/>
      </p:bgPr>
    </p:bg>
    <p:spTree>
      <p:nvGrpSpPr>
        <p:cNvPr id="1" name="Shape 182"/>
        <p:cNvGrpSpPr/>
        <p:nvPr/>
      </p:nvGrpSpPr>
      <p:grpSpPr>
        <a:xfrm>
          <a:off x="0" y="0"/>
          <a:ext cx="0" cy="0"/>
          <a:chOff x="0" y="0"/>
          <a:chExt cx="0" cy="0"/>
        </a:xfrm>
      </p:grpSpPr>
      <p:pic>
        <p:nvPicPr>
          <p:cNvPr id="13" name="Google Shape;183;p20"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4" name="Google Shape;185;p20" descr="image.png"/>
          <p:cNvPicPr preferRelativeResize="0"/>
          <p:nvPr/>
        </p:nvPicPr>
        <p:blipFill rotWithShape="1">
          <a:blip r:embed="rId4">
            <a:alphaModFix/>
          </a:blip>
          <a:srcRect/>
          <a:stretch/>
        </p:blipFill>
        <p:spPr>
          <a:xfrm>
            <a:off x="571500" y="5334000"/>
            <a:ext cx="11049000" cy="1316235"/>
          </a:xfrm>
          <a:prstGeom prst="rect">
            <a:avLst/>
          </a:prstGeom>
          <a:noFill/>
          <a:ln>
            <a:noFill/>
          </a:ln>
        </p:spPr>
      </p:pic>
      <p:sp>
        <p:nvSpPr>
          <p:cNvPr id="16" name="Google Shape;189;p20"/>
          <p:cNvSpPr txBox="1"/>
          <p:nvPr/>
        </p:nvSpPr>
        <p:spPr>
          <a:xfrm>
            <a:off x="1251109" y="5504042"/>
            <a:ext cx="10369391" cy="997196"/>
          </a:xfrm>
          <a:prstGeom prst="rect">
            <a:avLst/>
          </a:prstGeom>
          <a:noFill/>
          <a:ln>
            <a:noFill/>
          </a:ln>
        </p:spPr>
        <p:txBody>
          <a:bodyPr spcFirstLastPara="1" wrap="square" lIns="0" tIns="0" rIns="0" bIns="0" anchor="t" anchorCtr="0">
            <a:spAutoFit/>
          </a:bodyPr>
          <a:lstStyle/>
          <a:p>
            <a:pPr lvl="0">
              <a:lnSpc>
                <a:spcPct val="160000"/>
              </a:lnSpc>
            </a:pPr>
            <a:r>
              <a:rPr lang="en-US" sz="1350" dirty="0">
                <a:solidFill>
                  <a:srgbClr val="374151"/>
                </a:solidFill>
                <a:latin typeface="DM Sans"/>
                <a:ea typeface="DM Sans"/>
                <a:cs typeface="DM Sans"/>
                <a:sym typeface="DM Sans"/>
              </a:rPr>
              <a:t>Designed an interactive Tableau dashboard to monitor loan performance, including total payments, funded amounts, recoveries, and borrower grades. Integrated filters and KPIs to analyze payment trends, verification status, loan purpose, and state-wise distribution, enabling dynamic and data-driven financial insights.</a:t>
            </a:r>
            <a:endParaRPr dirty="0"/>
          </a:p>
        </p:txBody>
      </p:sp>
      <p:sp>
        <p:nvSpPr>
          <p:cNvPr id="18" name="Google Shape;192;p20"/>
          <p:cNvSpPr txBox="1"/>
          <p:nvPr/>
        </p:nvSpPr>
        <p:spPr>
          <a:xfrm>
            <a:off x="571500" y="571500"/>
            <a:ext cx="11601450" cy="4154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dirty="0" smtClean="0">
                <a:solidFill>
                  <a:srgbClr val="1E3A8A"/>
                </a:solidFill>
                <a:latin typeface="Merriweather"/>
                <a:ea typeface="Merriweather"/>
                <a:cs typeface="Merriweather"/>
                <a:sym typeface="Merriweather"/>
              </a:rPr>
              <a:t>Tableau Dashboard</a:t>
            </a:r>
            <a:endParaRPr dirty="0"/>
          </a:p>
        </p:txBody>
      </p:sp>
      <p:sp>
        <p:nvSpPr>
          <p:cNvPr id="20" name="Google Shape;193;p20"/>
          <p:cNvSpPr/>
          <p:nvPr/>
        </p:nvSpPr>
        <p:spPr>
          <a:xfrm>
            <a:off x="571500" y="1095375"/>
            <a:ext cx="11049000" cy="19050"/>
          </a:xfrm>
          <a:prstGeom prst="rect">
            <a:avLst/>
          </a:prstGeom>
          <a:solidFill>
            <a:srgbClr val="D1D5D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 name="Picture 2"/>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61481" y1="32258" x2="61481" y2="32258"/>
                        <a14:foregroundMark x1="49259" y1="28495" x2="49259" y2="28495"/>
                        <a14:foregroundMark x1="40741" y1="37097" x2="40741" y2="37097"/>
                        <a14:foregroundMark x1="36296" y1="37097" x2="36296" y2="37097"/>
                        <a14:foregroundMark x1="38148" y1="65054" x2="38148" y2="65054"/>
                        <a14:foregroundMark x1="39259" y1="65054" x2="39259" y2="65054"/>
                        <a14:foregroundMark x1="60000" y1="65054" x2="60000" y2="65054"/>
                        <a14:foregroundMark x1="65926" y1="50000" x2="65926" y2="50000"/>
                        <a14:foregroundMark x1="49630" y1="71505" x2="49630" y2="71505"/>
                        <a14:foregroundMark x1="33333" y1="52151" x2="33333" y2="52151"/>
                      </a14:backgroundRemoval>
                    </a14:imgEffect>
                  </a14:imgLayer>
                </a14:imgProps>
              </a:ext>
              <a:ext uri="{28A0092B-C50C-407E-A947-70E740481C1C}">
                <a14:useLocalDpi xmlns:a14="http://schemas.microsoft.com/office/drawing/2010/main" val="0"/>
              </a:ext>
            </a:extLst>
          </a:blip>
          <a:stretch>
            <a:fillRect/>
          </a:stretch>
        </p:blipFill>
        <p:spPr>
          <a:xfrm>
            <a:off x="359448" y="5626902"/>
            <a:ext cx="1090854" cy="751477"/>
          </a:xfrm>
          <a:prstGeom prst="rect">
            <a:avLst/>
          </a:prstGeom>
        </p:spPr>
      </p:pic>
      <p:pic>
        <p:nvPicPr>
          <p:cNvPr id="4" name="Picture 3"/>
          <p:cNvPicPr>
            <a:picLocks noChangeAspect="1"/>
          </p:cNvPicPr>
          <p:nvPr/>
        </p:nvPicPr>
        <p:blipFill rotWithShape="1">
          <a:blip r:embed="rId7">
            <a:extLst>
              <a:ext uri="{28A0092B-C50C-407E-A947-70E740481C1C}">
                <a14:useLocalDpi xmlns:a14="http://schemas.microsoft.com/office/drawing/2010/main" val="0"/>
              </a:ext>
            </a:extLst>
          </a:blip>
          <a:srcRect l="1797" t="17223" r="-156" b="6666"/>
          <a:stretch/>
        </p:blipFill>
        <p:spPr>
          <a:xfrm>
            <a:off x="1538287" y="1222802"/>
            <a:ext cx="9115425" cy="3967636"/>
          </a:xfrm>
          <a:prstGeom prst="rect">
            <a:avLst/>
          </a:prstGeom>
        </p:spPr>
      </p:pic>
    </p:spTree>
    <p:extLst>
      <p:ext uri="{BB962C8B-B14F-4D97-AF65-F5344CB8AC3E}">
        <p14:creationId xmlns:p14="http://schemas.microsoft.com/office/powerpoint/2010/main" val="373861044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9FAFB"/>
        </a:solidFill>
        <a:effectLst/>
      </p:bgPr>
    </p:bg>
    <p:spTree>
      <p:nvGrpSpPr>
        <p:cNvPr id="1" name="Shape 221"/>
        <p:cNvGrpSpPr/>
        <p:nvPr/>
      </p:nvGrpSpPr>
      <p:grpSpPr>
        <a:xfrm>
          <a:off x="0" y="0"/>
          <a:ext cx="0" cy="0"/>
          <a:chOff x="0" y="0"/>
          <a:chExt cx="0" cy="0"/>
        </a:xfrm>
      </p:grpSpPr>
      <p:pic>
        <p:nvPicPr>
          <p:cNvPr id="222" name="Google Shape;222;p2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23" name="Google Shape;223;p23"/>
          <p:cNvSpPr txBox="1"/>
          <p:nvPr/>
        </p:nvSpPr>
        <p:spPr>
          <a:xfrm>
            <a:off x="952500" y="2976562"/>
            <a:ext cx="10668000"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374151"/>
                </a:solidFill>
                <a:latin typeface="DM Sans"/>
                <a:ea typeface="DM Sans"/>
                <a:cs typeface="DM Sans"/>
                <a:sym typeface="DM Sans"/>
              </a:rPr>
              <a:t>₹48M Profit Visibility:</a:t>
            </a:r>
            <a:r>
              <a:rPr lang="en-US" sz="1500" b="0" i="0" u="none" strike="noStrike" cap="none">
                <a:solidFill>
                  <a:srgbClr val="374151"/>
                </a:solidFill>
                <a:latin typeface="DM Sans"/>
                <a:ea typeface="DM Sans"/>
                <a:cs typeface="DM Sans"/>
                <a:sym typeface="DM Sans"/>
              </a:rPr>
              <a:t> Confirmed high-margin yield after accounting for funded vs. received capital.</a:t>
            </a:r>
            <a:endParaRPr/>
          </a:p>
        </p:txBody>
      </p:sp>
      <p:sp>
        <p:nvSpPr>
          <p:cNvPr id="224" name="Google Shape;224;p23"/>
          <p:cNvSpPr txBox="1"/>
          <p:nvPr/>
        </p:nvSpPr>
        <p:spPr>
          <a:xfrm>
            <a:off x="952500" y="3471862"/>
            <a:ext cx="10668000"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374151"/>
                </a:solidFill>
                <a:latin typeface="DM Sans"/>
                <a:ea typeface="DM Sans"/>
                <a:cs typeface="DM Sans"/>
                <a:sym typeface="DM Sans"/>
              </a:rPr>
              <a:t>Recovered Capital:</a:t>
            </a:r>
            <a:r>
              <a:rPr lang="en-US" sz="1500" b="0" i="0" u="none" strike="noStrike" cap="none">
                <a:solidFill>
                  <a:srgbClr val="374151"/>
                </a:solidFill>
                <a:latin typeface="DM Sans"/>
                <a:ea typeface="DM Sans"/>
                <a:cs typeface="DM Sans"/>
                <a:sym typeface="DM Sans"/>
              </a:rPr>
              <a:t> ₹3.8M successfully tracked and identified back into the portfolio.</a:t>
            </a:r>
            <a:endParaRPr/>
          </a:p>
        </p:txBody>
      </p:sp>
      <p:sp>
        <p:nvSpPr>
          <p:cNvPr id="225" name="Google Shape;225;p23"/>
          <p:cNvSpPr txBox="1"/>
          <p:nvPr/>
        </p:nvSpPr>
        <p:spPr>
          <a:xfrm>
            <a:off x="952500" y="3967162"/>
            <a:ext cx="10668000"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374151"/>
                </a:solidFill>
                <a:latin typeface="DM Sans"/>
                <a:ea typeface="DM Sans"/>
                <a:cs typeface="DM Sans"/>
                <a:sym typeface="DM Sans"/>
              </a:rPr>
              <a:t>Risk Awareness:</a:t>
            </a:r>
            <a:r>
              <a:rPr lang="en-US" sz="1500" b="0" i="0" u="none" strike="noStrike" cap="none">
                <a:solidFill>
                  <a:srgbClr val="374151"/>
                </a:solidFill>
                <a:latin typeface="DM Sans"/>
                <a:ea typeface="DM Sans"/>
                <a:cs typeface="DM Sans"/>
                <a:sym typeface="DM Sans"/>
              </a:rPr>
              <a:t> Pinpointed the 32% unverified segment for mandatory document upgrading.</a:t>
            </a:r>
            <a:endParaRPr/>
          </a:p>
        </p:txBody>
      </p:sp>
      <p:sp>
        <p:nvSpPr>
          <p:cNvPr id="226" name="Google Shape;226;p23"/>
          <p:cNvSpPr txBox="1"/>
          <p:nvPr/>
        </p:nvSpPr>
        <p:spPr>
          <a:xfrm>
            <a:off x="952500" y="4462462"/>
            <a:ext cx="10668000"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374151"/>
                </a:solidFill>
                <a:latin typeface="DM Sans"/>
                <a:ea typeface="DM Sans"/>
                <a:cs typeface="DM Sans"/>
                <a:sym typeface="DM Sans"/>
              </a:rPr>
              <a:t>Decision Speed:</a:t>
            </a:r>
            <a:r>
              <a:rPr lang="en-US" sz="1500" b="0" i="0" u="none" strike="noStrike" cap="none">
                <a:solidFill>
                  <a:srgbClr val="374151"/>
                </a:solidFill>
                <a:latin typeface="DM Sans"/>
                <a:ea typeface="DM Sans"/>
                <a:cs typeface="DM Sans"/>
                <a:sym typeface="DM Sans"/>
              </a:rPr>
              <a:t> Created a scalable dashboard framework ready for 2012+ expansion data.</a:t>
            </a:r>
            <a:endParaRPr/>
          </a:p>
        </p:txBody>
      </p:sp>
      <p:pic>
        <p:nvPicPr>
          <p:cNvPr id="227" name="Google Shape;227;p23" descr="image.png"/>
          <p:cNvPicPr preferRelativeResize="0"/>
          <p:nvPr/>
        </p:nvPicPr>
        <p:blipFill rotWithShape="1">
          <a:blip r:embed="rId4">
            <a:alphaModFix/>
          </a:blip>
          <a:srcRect/>
          <a:stretch/>
        </p:blipFill>
        <p:spPr>
          <a:xfrm>
            <a:off x="571500" y="3005137"/>
            <a:ext cx="228600" cy="247650"/>
          </a:xfrm>
          <a:prstGeom prst="rect">
            <a:avLst/>
          </a:prstGeom>
          <a:noFill/>
          <a:ln>
            <a:noFill/>
          </a:ln>
        </p:spPr>
      </p:pic>
      <p:pic>
        <p:nvPicPr>
          <p:cNvPr id="228" name="Google Shape;228;p23" descr="image.png"/>
          <p:cNvPicPr preferRelativeResize="0"/>
          <p:nvPr/>
        </p:nvPicPr>
        <p:blipFill rotWithShape="1">
          <a:blip r:embed="rId4">
            <a:alphaModFix/>
          </a:blip>
          <a:srcRect/>
          <a:stretch/>
        </p:blipFill>
        <p:spPr>
          <a:xfrm>
            <a:off x="571500" y="3500437"/>
            <a:ext cx="228600" cy="247650"/>
          </a:xfrm>
          <a:prstGeom prst="rect">
            <a:avLst/>
          </a:prstGeom>
          <a:noFill/>
          <a:ln>
            <a:noFill/>
          </a:ln>
        </p:spPr>
      </p:pic>
      <p:pic>
        <p:nvPicPr>
          <p:cNvPr id="229" name="Google Shape;229;p23" descr="image.png"/>
          <p:cNvPicPr preferRelativeResize="0"/>
          <p:nvPr/>
        </p:nvPicPr>
        <p:blipFill rotWithShape="1">
          <a:blip r:embed="rId4">
            <a:alphaModFix/>
          </a:blip>
          <a:srcRect/>
          <a:stretch/>
        </p:blipFill>
        <p:spPr>
          <a:xfrm>
            <a:off x="571500" y="3995737"/>
            <a:ext cx="228600" cy="247650"/>
          </a:xfrm>
          <a:prstGeom prst="rect">
            <a:avLst/>
          </a:prstGeom>
          <a:noFill/>
          <a:ln>
            <a:noFill/>
          </a:ln>
        </p:spPr>
      </p:pic>
      <p:pic>
        <p:nvPicPr>
          <p:cNvPr id="230" name="Google Shape;230;p23" descr="image.png"/>
          <p:cNvPicPr preferRelativeResize="0"/>
          <p:nvPr/>
        </p:nvPicPr>
        <p:blipFill rotWithShape="1">
          <a:blip r:embed="rId4">
            <a:alphaModFix/>
          </a:blip>
          <a:srcRect/>
          <a:stretch/>
        </p:blipFill>
        <p:spPr>
          <a:xfrm>
            <a:off x="571500" y="4491037"/>
            <a:ext cx="228600" cy="247650"/>
          </a:xfrm>
          <a:prstGeom prst="rect">
            <a:avLst/>
          </a:prstGeom>
          <a:noFill/>
          <a:ln>
            <a:noFill/>
          </a:ln>
        </p:spPr>
      </p:pic>
      <p:sp>
        <p:nvSpPr>
          <p:cNvPr id="231" name="Google Shape;231;p23"/>
          <p:cNvSpPr txBox="1"/>
          <p:nvPr/>
        </p:nvSpPr>
        <p:spPr>
          <a:xfrm>
            <a:off x="571500" y="571500"/>
            <a:ext cx="11601450" cy="4476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1E3A8A"/>
                </a:solidFill>
                <a:latin typeface="Merriweather"/>
                <a:ea typeface="Merriweather"/>
                <a:cs typeface="Merriweather"/>
                <a:sym typeface="Merriweather"/>
              </a:rPr>
              <a:t>Key Project Gains &amp; Verdict</a:t>
            </a:r>
            <a:endParaRPr/>
          </a:p>
        </p:txBody>
      </p:sp>
      <p:sp>
        <p:nvSpPr>
          <p:cNvPr id="232" name="Google Shape;232;p23"/>
          <p:cNvSpPr/>
          <p:nvPr/>
        </p:nvSpPr>
        <p:spPr>
          <a:xfrm>
            <a:off x="571500" y="1095375"/>
            <a:ext cx="11049000" cy="19050"/>
          </a:xfrm>
          <a:prstGeom prst="rect">
            <a:avLst/>
          </a:prstGeom>
          <a:solidFill>
            <a:srgbClr val="D1D5D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70</TotalTime>
  <Words>561</Words>
  <Application>Microsoft Office PowerPoint</Application>
  <PresentationFormat>Widescreen</PresentationFormat>
  <Paragraphs>54</Paragraphs>
  <Slides>11</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DM Sans</vt:lpstr>
      <vt:lpstr>Merriweather</vt:lpstr>
      <vt:lpstr>DM Sans Medium</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Sneha</dc:creator>
  <cp:lastModifiedBy>Sneha</cp:lastModifiedBy>
  <cp:revision>11</cp:revision>
  <dcterms:modified xsi:type="dcterms:W3CDTF">2026-02-17T19:23:31Z</dcterms:modified>
</cp:coreProperties>
</file>